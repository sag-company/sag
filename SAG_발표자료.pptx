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D1B2A"/>
                </a:solidFill>
                <a:latin typeface="Arial"/>
              </a:defRPr>
            </a:pPr>
            <a:r>
              <a:rPr sz="1300" b="0" i="0" u="none" strike="noStrike">
                <a:solidFill>
                  <a:srgbClr val="0D1B2A"/>
                </a:solidFill>
                <a:latin typeface="Arial"/>
              </a:rPr>
              <a:t>축종 분포</a:t>
            </a:r>
          </a:p>
        </c:rich>
      </c:tx>
      <c:layout/>
      <c:overlay val="0"/>
    </c:title>
    <c:autoTitleDeleted val="0"/>
    <c:plotArea>
      <c:layout/>
      <c:pieChart>
        <c:varyColors val="1"/>
        <c:ser>
          <c:idx val="0"/>
          <c:order val="0"/>
          <c:tx>
            <c:strRef>
              <c:f>Sheet1!$B$1</c:f>
              <c:strCache>
                <c:ptCount val="1"/>
                <c:pt idx="0">
                  <c:v>축종</c:v>
                </c:pt>
              </c:strCache>
            </c:strRef>
          </c:tx>
          <c:spPr>
            <a:solidFill>
              <a:schemeClr val="accent1"/>
            </a:solidFill>
            <a:ln w="9525" cap="flat">
              <a:solidFill>
                <a:srgbClr val="F9F9F9"/>
              </a:solidFill>
              <a:prstDash val="solid"/>
              <a:round/>
            </a:ln>
            <a:effectLst/>
          </c:spPr>
          <c:dPt>
            <c:idx val="0"/>
            <c:bubble3D val="0"/>
            <c:spPr>
              <a:solidFill>
                <a:srgbClr val="1C3D6E"/>
              </a:solidFill>
              <a:effectLst/>
            </c:spPr>
          </c:dPt>
          <c:dPt>
            <c:idx val="1"/>
            <c:bubble3D val="0"/>
            <c:spPr>
              <a:solidFill>
                <a:srgbClr val="F5A623"/>
              </a:solidFill>
              <a:effectLst/>
            </c:spPr>
          </c:dPt>
          <c:dLbls>
            <c:dLbl>
              <c:idx val="0"/>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강아지 88.6%</c:v>
                </c:pt>
                <c:pt idx="1">
                  <c:v>고양이 11.4%</c:v>
                </c:pt>
              </c:strCache>
            </c:strRef>
          </c:cat>
          <c:val>
            <c:numRef>
              <c:f>Sheet1!$B$2:$B$3</c:f>
              <c:numCache>
                <c:ptCount val="2"/>
                <c:pt idx="0">
                  <c:v>31003</c:v>
                </c:pt>
                <c:pt idx="1">
                  <c:v>3984</c:v>
                </c:pt>
              </c:numCache>
            </c:numRef>
          </c:val>
        </c:ser>
        <c:firstSliceAng val="0"/>
      </c:pieChart>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1장. 안녕하세요, 팀 SAG입니다. 저희가 만든 'AI 수의사'를 발표하겠습니다. 반려동물 피부 사진 한 장으로 병변 유형과 진료 필요도를 분석하는 AI 보조 서비스입니다. 핵심은 진단이 아니라, 보호자가 '지금 병원에 가야 하나?'를 빠르게 판단하도록 돕는 초기 선별 도구라는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2장. 반려동물 보호자라면 누구나 겪는 상황입니다. 피부에 뭔가 이상한데, 지금 병원을 가야 할지 더 지켜봐도 될지 모르는 거죠. 그래서 진료를 미루거나, 반대로 불필요하게 자주 가게 됩니다. 저희는 이 판단을 사진으로 보조하려 했습니다. 진단을 대체하는 게 아니라 초기 선별을 돕는 보조 도구라는 점이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3장. 데이터는 AI Hub의 반려동물 피부 질환 데이터입니다. 약 3만 5천 장, 7개 병변 클래스를 클래스당 약 5천 장씩 균등하게 맞췄고, 70/15/15로 나눴습니다. 중복 제거와 품질 스크리닝, 층화 샘플링을 거쳤습니다. 정리하면 이미지와 동물·부위 정보로 7개 병변 클래스를 예측하는 구성입니다.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4장. EDA는 그래프 자랑이 아니라 모델링 근거입니다. 첫째, 강아지 88.6%, 고양이 11.4%로 불균형합니다. 전체 정확도만 보면 고양이 성능이 가려질 수 있어 클래스·축종별로 따로 봤습니다. 둘째, 클래스 수는 균등하지만 촬영 부위가 편중돼 클래스별 Precision·Recall·F1이 필요했습니다. 셋째, 비듬과 태선화는 육안으로도 비슷해 Confusion Matrix로 혼동을 미리 확인하기로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5장. 코드를 줄줄이 설명하지 않겠습니다. 이미지가 들어오면 7개 병변 클래스를 예측하는 분류 문제입니다. 직접 설계 CNN 42%에서 출발해, 사전학습 EfficientNetB0 전이학습으로 50.3%, 최종적으로 더 큰 EfficientNetB3를 2단계로 학습했습니다. 1단계는 백본 고정 후 분류기만, 2단계는 백본을 풀어 미세조정해 57.6%까지 올렸습니다. 어떤 질환을 놓치는지 보려고 Confusion Matrix와 클래스별 지표를 함께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6장. 숫자만 말하지 않겠습니다. 전체 정확도 57.6%, 정답이 상위 3개 안에 드는 비율 85.4%. 흥미롭게도 데이터가 훨씬 적은 고양이가 67.7%로 강아지 56.2%보다 더 정확했습니다 — EDA 우려와 정반대였습니다. 왼쪽 혼동행렬에서 A5 미란/궤양, A6 결절/종괴는 대각선이 진해 잘 맞히고, A2 비듬이 가장 약하며 A3와 가장 많이 혼동합니다. 정상(A7)은 재현율이 낮아 이상 쪽으로 보수적인데, 선별 도구로는 안전한 방향입니다. 그래서 낮은 신뢰도 클래스는 보수적으로 안내하도록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7장. 이 장은 말보다 화면입니다. 다섯 단계입니다. 사진을 업로드하거나 준비된 샘플을 누릅니다. AI가 7개 클래스 확률을 예측하고, 위험도를 4단계로 보여주고, 동물·부위·증상에 맞춘 행동 가이드를 주고, Grad-CAM으로 모델이 어디를 봤는지 시각화합니다. 아래 세 샘플은 실제 모델 결과입니다 — 미란/궤양 97% 빠른 진료, 태선화 88% 진료, 정상 72% 정상 안내. 업로드 없이 샘플만 눌러도 바로 체험됩니다.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8장. 마지막은 감사 인사 대신 한계와 다음 단계로 마칩니다. 한계는 셋입니다. 정확도 57.6%는 임상 진단으로 쓰기엔 부족하고, A2와 A3처럼 유사한 병변을 혼동하며, 고양이 데이터가 부족하고 이미지만 입력합니다. 원인은 학습량·데이터 한계와 메타정보 미반영입니다. 개선 방향은 데이터 보강, A2·A3 특화 처리, 이미지에 증상을 더한 멀티모달입니다. 다음 단계는 데이터 보강, 멀티모달, 추가 학습, 임상 검증입니다. AI 수의사는 진단을 확정하지 않고, 빠른 초기 판단으로 보호자의 다음 행동을 돕습니다. 이상입니다.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766560" y="-548640"/>
            <a:ext cx="3657600" cy="3657600"/>
          </a:xfrm>
          <a:prstGeom prst="ellipse">
            <a:avLst/>
          </a:prstGeom>
          <a:solidFill>
            <a:srgbClr val="1A2D42"/>
          </a:solidFill>
          <a:ln w="12700">
            <a:solidFill>
              <a:srgbClr val="1A2D42"/>
            </a:solidFill>
            <a:prstDash val="solid"/>
          </a:ln>
        </p:spPr>
      </p:sp>
      <p:sp>
        <p:nvSpPr>
          <p:cNvPr id="3" name="Shape 1"/>
          <p:cNvSpPr/>
          <p:nvPr/>
        </p:nvSpPr>
        <p:spPr>
          <a:xfrm>
            <a:off x="7863840" y="2651760"/>
            <a:ext cx="1737360" cy="1737360"/>
          </a:xfrm>
          <a:prstGeom prst="ellipse">
            <a:avLst/>
          </a:prstGeom>
          <a:solidFill>
            <a:srgbClr val="F5A623">
              <a:alpha val="30000"/>
            </a:srgbClr>
          </a:solidFill>
          <a:ln w="12700">
            <a:solidFill>
              <a:srgbClr val="F5A623">
                <a:alpha val="30000"/>
              </a:srgbClr>
            </a:solidFill>
            <a:prstDash val="solid"/>
          </a:ln>
        </p:spPr>
      </p:sp>
      <p:sp>
        <p:nvSpPr>
          <p:cNvPr id="4" name="Text 2"/>
          <p:cNvSpPr/>
          <p:nvPr/>
        </p:nvSpPr>
        <p:spPr>
          <a:xfrm>
            <a:off x="502920" y="731520"/>
            <a:ext cx="6400800" cy="365760"/>
          </a:xfrm>
          <a:prstGeom prst="rect">
            <a:avLst/>
          </a:prstGeom>
          <a:noFill/>
          <a:ln/>
        </p:spPr>
        <p:txBody>
          <a:bodyPr wrap="square" rtlCol="0" anchor="ctr"/>
          <a:lstStyle/>
          <a:p>
            <a:pPr indent="0" marL="0">
              <a:buNone/>
            </a:pPr>
            <a:r>
              <a:rPr lang="en-US" sz="1300" dirty="0">
                <a:solidFill>
                  <a:srgbClr val="F5A623"/>
                </a:solidFill>
                <a:latin typeface="Calibri" pitchFamily="34" charset="0"/>
                <a:ea typeface="Calibri" pitchFamily="34" charset="-122"/>
                <a:cs typeface="Calibri" pitchFamily="34" charset="-120"/>
              </a:rPr>
              <a:t>AI 기반 반려동물 피부질환 분석 서비스</a:t>
            </a:r>
            <a:endParaRPr lang="en-US" sz="1300" dirty="0"/>
          </a:p>
        </p:txBody>
      </p:sp>
      <p:sp>
        <p:nvSpPr>
          <p:cNvPr id="5" name="Text 3"/>
          <p:cNvSpPr/>
          <p:nvPr/>
        </p:nvSpPr>
        <p:spPr>
          <a:xfrm>
            <a:off x="457200" y="1097280"/>
            <a:ext cx="7315200" cy="1280160"/>
          </a:xfrm>
          <a:prstGeom prst="rect">
            <a:avLst/>
          </a:prstGeom>
          <a:noFill/>
          <a:ln/>
        </p:spPr>
        <p:txBody>
          <a:bodyPr wrap="square" rtlCol="0" anchor="ctr"/>
          <a:lstStyle/>
          <a:p>
            <a:pPr indent="0" marL="0">
              <a:buNone/>
            </a:pPr>
            <a:r>
              <a:rPr lang="en-US" sz="7000" b="1" dirty="0">
                <a:solidFill>
                  <a:srgbClr val="FFFFFF"/>
                </a:solidFill>
                <a:latin typeface="Calibri" pitchFamily="34" charset="0"/>
                <a:ea typeface="Calibri" pitchFamily="34" charset="-122"/>
                <a:cs typeface="Calibri" pitchFamily="34" charset="-120"/>
              </a:rPr>
              <a:t>AI 수의사</a:t>
            </a:r>
            <a:endParaRPr lang="en-US" sz="7000" dirty="0"/>
          </a:p>
        </p:txBody>
      </p:sp>
      <p:sp>
        <p:nvSpPr>
          <p:cNvPr id="6" name="Text 4"/>
          <p:cNvSpPr/>
          <p:nvPr/>
        </p:nvSpPr>
        <p:spPr>
          <a:xfrm>
            <a:off x="502920" y="2514600"/>
            <a:ext cx="7498080" cy="640080"/>
          </a:xfrm>
          <a:prstGeom prst="rect">
            <a:avLst/>
          </a:prstGeom>
          <a:noFill/>
          <a:ln/>
        </p:spPr>
        <p:txBody>
          <a:bodyPr wrap="square" rtlCol="0" anchor="ctr"/>
          <a:lstStyle/>
          <a:p>
            <a:pPr indent="0" marL="0">
              <a:lnSpc>
                <a:spcPct val="110000"/>
              </a:lnSpc>
              <a:buNone/>
            </a:pPr>
            <a:r>
              <a:rPr lang="en-US" sz="1600" dirty="0">
                <a:solidFill>
                  <a:srgbClr val="CADCFC"/>
                </a:solidFill>
                <a:latin typeface="Calibri" pitchFamily="34" charset="0"/>
                <a:ea typeface="Calibri" pitchFamily="34" charset="-122"/>
                <a:cs typeface="Calibri" pitchFamily="34" charset="-120"/>
              </a:rPr>
              <a:t>반려동물 피부 사진 한 장으로 병변 유형과 진료 필요도를 분석하는</a:t>
            </a:r>
            <a:endParaRPr lang="en-US" sz="1600" dirty="0"/>
          </a:p>
          <a:p>
            <a:pPr indent="0" marL="0">
              <a:lnSpc>
                <a:spcPct val="110000"/>
              </a:lnSpc>
              <a:buNone/>
            </a:pPr>
            <a:r>
              <a:rPr lang="en-US" sz="1600" dirty="0">
                <a:solidFill>
                  <a:srgbClr val="CADCFC"/>
                </a:solidFill>
                <a:latin typeface="Calibri" pitchFamily="34" charset="0"/>
                <a:ea typeface="Calibri" pitchFamily="34" charset="-122"/>
                <a:cs typeface="Calibri" pitchFamily="34" charset="-120"/>
              </a:rPr>
              <a:t>AI 기반 초기 선별 보조 서비스</a:t>
            </a:r>
            <a:endParaRPr lang="en-US" sz="1600" dirty="0"/>
          </a:p>
        </p:txBody>
      </p:sp>
      <p:sp>
        <p:nvSpPr>
          <p:cNvPr id="7" name="Shape 5"/>
          <p:cNvSpPr/>
          <p:nvPr/>
        </p:nvSpPr>
        <p:spPr>
          <a:xfrm>
            <a:off x="502920" y="3246120"/>
            <a:ext cx="2377440" cy="36576"/>
          </a:xfrm>
          <a:prstGeom prst="rect">
            <a:avLst/>
          </a:prstGeom>
          <a:solidFill>
            <a:srgbClr val="F5A623"/>
          </a:solidFill>
          <a:ln w="12700">
            <a:solidFill>
              <a:srgbClr val="F5A623"/>
            </a:solidFill>
            <a:prstDash val="solid"/>
          </a:ln>
        </p:spPr>
      </p:sp>
      <p:sp>
        <p:nvSpPr>
          <p:cNvPr id="8" name="Text 6"/>
          <p:cNvSpPr/>
          <p:nvPr/>
        </p:nvSpPr>
        <p:spPr>
          <a:xfrm>
            <a:off x="502920" y="3429000"/>
            <a:ext cx="7863840" cy="914400"/>
          </a:xfrm>
          <a:prstGeom prst="rect">
            <a:avLst/>
          </a:prstGeom>
          <a:noFill/>
          <a:ln/>
        </p:spPr>
        <p:txBody>
          <a:bodyPr wrap="square" rtlCol="0" anchor="ctr"/>
          <a:lstStyle/>
          <a:p>
            <a:pPr indent="0" marL="0">
              <a:lnSpc>
                <a:spcPct val="115000"/>
              </a:lnSpc>
              <a:buNone/>
            </a:pPr>
            <a:r>
              <a:rPr lang="en-US" sz="1250" b="1" dirty="0">
                <a:solidFill>
                  <a:srgbClr val="FFFFFF"/>
                </a:solidFill>
                <a:latin typeface="Calibri" pitchFamily="34" charset="0"/>
                <a:ea typeface="Calibri" pitchFamily="34" charset="-122"/>
                <a:cs typeface="Calibri" pitchFamily="34" charset="-120"/>
              </a:rPr>
              <a:t>다루는 문제: </a:t>
            </a:r>
            <a:pPr indent="0" marL="0">
              <a:lnSpc>
                <a:spcPct val="115000"/>
              </a:lnSpc>
              <a:buNone/>
            </a:pPr>
            <a:r>
              <a:rPr lang="en-US" sz="1250" dirty="0">
                <a:solidFill>
                  <a:srgbClr val="8899AA"/>
                </a:solidFill>
                <a:latin typeface="Calibri" pitchFamily="34" charset="0"/>
                <a:ea typeface="Calibri" pitchFamily="34" charset="-122"/>
                <a:cs typeface="Calibri" pitchFamily="34" charset="-120"/>
              </a:rPr>
              <a:t>보호자가 "지금 병원에 가야 하나?"를 사진으로 빠르게 가늠하도록 돕기</a:t>
            </a:r>
            <a:endParaRPr lang="en-US" sz="1250" dirty="0"/>
          </a:p>
          <a:p>
            <a:pPr indent="0" marL="0">
              <a:lnSpc>
                <a:spcPct val="115000"/>
              </a:lnSpc>
              <a:buNone/>
            </a:pPr>
            <a:r>
              <a:rPr lang="en-US" sz="1250" dirty="0">
                <a:solidFill>
                  <a:srgbClr val="8899AA"/>
                </a:solidFill>
                <a:latin typeface="Calibri" pitchFamily="34" charset="0"/>
                <a:ea typeface="Calibri" pitchFamily="34" charset="-122"/>
                <a:cs typeface="Calibri" pitchFamily="34" charset="-120"/>
              </a:rPr>
              <a:t>팀 SAG  ·  2026.06.10 ~ 06.16  ·  Python · TensorFlow · EfficientNetB3 · Streamlit</a:t>
            </a:r>
            <a:endParaRPr lang="en-US" sz="1250" dirty="0"/>
          </a:p>
        </p:txBody>
      </p:sp>
      <p:sp>
        <p:nvSpPr>
          <p:cNvPr id="9" name="Text 7"/>
          <p:cNvSpPr/>
          <p:nvPr/>
        </p:nvSpPr>
        <p:spPr>
          <a:xfrm>
            <a:off x="8092440" y="4343400"/>
            <a:ext cx="914400" cy="548640"/>
          </a:xfrm>
          <a:prstGeom prst="rect">
            <a:avLst/>
          </a:prstGeom>
          <a:noFill/>
          <a:ln/>
        </p:spPr>
        <p:txBody>
          <a:bodyPr wrap="square" rtlCol="0" anchor="ctr"/>
          <a:lstStyle/>
          <a:p>
            <a:pPr indent="0" marL="0">
              <a:buNone/>
            </a:pPr>
            <a:r>
              <a:rPr lang="en-US" sz="3400" dirty="0">
                <a:solidFill>
                  <a:srgbClr val="000000"/>
                </a:solidFill>
              </a:rPr>
              <a:t>🐾</a:t>
            </a:r>
            <a:endParaRPr lang="en-US" sz="3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Text 1"/>
          <p:cNvSpPr/>
          <p:nvPr/>
        </p:nvSpPr>
        <p:spPr>
          <a:xfrm>
            <a:off x="365760" y="73152"/>
            <a:ext cx="8412480" cy="768096"/>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왜 이 서비스가 필요한가?</a:t>
            </a:r>
            <a:endParaRPr lang="en-US" sz="2500" dirty="0"/>
          </a:p>
        </p:txBody>
      </p:sp>
      <p:sp>
        <p:nvSpPr>
          <p:cNvPr id="4" name="Shape 2"/>
          <p:cNvSpPr/>
          <p:nvPr/>
        </p:nvSpPr>
        <p:spPr>
          <a:xfrm>
            <a:off x="365760" y="1143000"/>
            <a:ext cx="2468880" cy="2697480"/>
          </a:xfrm>
          <a:prstGeom prst="roundRect">
            <a:avLst>
              <a:gd name="adj" fmla="val 4444"/>
            </a:avLst>
          </a:prstGeom>
          <a:solidFill>
            <a:srgbClr val="FFFFFF"/>
          </a:solidFill>
          <a:ln w="12700">
            <a:solidFill>
              <a:srgbClr val="D0D8E4"/>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298448"/>
            <a:ext cx="64008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502920" y="1874520"/>
            <a:ext cx="2194560" cy="365760"/>
          </a:xfrm>
          <a:prstGeom prst="rect">
            <a:avLst/>
          </a:prstGeom>
          <a:noFill/>
          <a:ln/>
        </p:spPr>
        <p:txBody>
          <a:bodyPr wrap="square" rtlCol="0" anchor="ctr"/>
          <a:lstStyle/>
          <a:p>
            <a:pPr algn="ctr" indent="0" marL="0">
              <a:buNone/>
            </a:pPr>
            <a:r>
              <a:rPr lang="en-US" sz="1500" b="1" dirty="0">
                <a:solidFill>
                  <a:srgbClr val="0D1B2A"/>
                </a:solidFill>
                <a:latin typeface="Calibri" pitchFamily="34" charset="0"/>
                <a:ea typeface="Calibri" pitchFamily="34" charset="-122"/>
                <a:cs typeface="Calibri" pitchFamily="34" charset="-120"/>
              </a:rPr>
              <a:t>누구의 문제인가</a:t>
            </a:r>
            <a:endParaRPr lang="en-US" sz="1500" dirty="0"/>
          </a:p>
        </p:txBody>
      </p:sp>
      <p:sp>
        <p:nvSpPr>
          <p:cNvPr id="7" name="Text 5"/>
          <p:cNvSpPr/>
          <p:nvPr/>
        </p:nvSpPr>
        <p:spPr>
          <a:xfrm>
            <a:off x="548640" y="2286000"/>
            <a:ext cx="2103120" cy="1417320"/>
          </a:xfrm>
          <a:prstGeom prst="rect">
            <a:avLst/>
          </a:prstGeom>
          <a:noFill/>
          <a:ln/>
        </p:spPr>
        <p:txBody>
          <a:bodyPr wrap="square" rtlCol="0" anchor="ctr"/>
          <a:lstStyle/>
          <a:p>
            <a:pPr algn="ctr" indent="0" marL="0">
              <a:lnSpc>
                <a:spcPct val="112000"/>
              </a:lnSpc>
              <a:buNone/>
            </a:pPr>
            <a:r>
              <a:rPr lang="en-US" sz="1200" dirty="0">
                <a:solidFill>
                  <a:srgbClr val="334155"/>
                </a:solidFill>
                <a:latin typeface="Calibri" pitchFamily="34" charset="0"/>
                <a:ea typeface="Calibri" pitchFamily="34" charset="-122"/>
                <a:cs typeface="Calibri" pitchFamily="34" charset="-120"/>
              </a:rPr>
              <a:t>반려동물 보호자. 피부에 이상이 보여도 단순 상처인지, 병원이 필요한 상태인지 스스로 판단하기 어렵습니다.</a:t>
            </a:r>
            <a:endParaRPr lang="en-US" sz="1200" dirty="0"/>
          </a:p>
        </p:txBody>
      </p:sp>
      <p:sp>
        <p:nvSpPr>
          <p:cNvPr id="8" name="Shape 6"/>
          <p:cNvSpPr/>
          <p:nvPr/>
        </p:nvSpPr>
        <p:spPr>
          <a:xfrm>
            <a:off x="3337560" y="1143000"/>
            <a:ext cx="2468880" cy="2697480"/>
          </a:xfrm>
          <a:prstGeom prst="roundRect">
            <a:avLst>
              <a:gd name="adj" fmla="val 4444"/>
            </a:avLst>
          </a:prstGeom>
          <a:solidFill>
            <a:srgbClr val="FFFFFF"/>
          </a:solidFill>
          <a:ln w="12700">
            <a:solidFill>
              <a:srgbClr val="D0D8E4"/>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4251960" y="1298448"/>
            <a:ext cx="64008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74720" y="1874520"/>
            <a:ext cx="2194560" cy="365760"/>
          </a:xfrm>
          <a:prstGeom prst="rect">
            <a:avLst/>
          </a:prstGeom>
          <a:noFill/>
          <a:ln/>
        </p:spPr>
        <p:txBody>
          <a:bodyPr wrap="square" rtlCol="0" anchor="ctr"/>
          <a:lstStyle/>
          <a:p>
            <a:pPr algn="ctr" indent="0" marL="0">
              <a:buNone/>
            </a:pPr>
            <a:r>
              <a:rPr lang="en-US" sz="1500" b="1" dirty="0">
                <a:solidFill>
                  <a:srgbClr val="0D1B2A"/>
                </a:solidFill>
                <a:latin typeface="Calibri" pitchFamily="34" charset="0"/>
                <a:ea typeface="Calibri" pitchFamily="34" charset="-122"/>
                <a:cs typeface="Calibri" pitchFamily="34" charset="-120"/>
              </a:rPr>
              <a:t>왜 필요한가</a:t>
            </a:r>
            <a:endParaRPr lang="en-US" sz="1500" dirty="0"/>
          </a:p>
        </p:txBody>
      </p:sp>
      <p:sp>
        <p:nvSpPr>
          <p:cNvPr id="11" name="Text 9"/>
          <p:cNvSpPr/>
          <p:nvPr/>
        </p:nvSpPr>
        <p:spPr>
          <a:xfrm>
            <a:off x="3520440" y="2286000"/>
            <a:ext cx="2103120" cy="1417320"/>
          </a:xfrm>
          <a:prstGeom prst="rect">
            <a:avLst/>
          </a:prstGeom>
          <a:noFill/>
          <a:ln/>
        </p:spPr>
        <p:txBody>
          <a:bodyPr wrap="square" rtlCol="0" anchor="ctr"/>
          <a:lstStyle/>
          <a:p>
            <a:pPr algn="ctr" indent="0" marL="0">
              <a:lnSpc>
                <a:spcPct val="112000"/>
              </a:lnSpc>
              <a:buNone/>
            </a:pPr>
            <a:r>
              <a:rPr lang="en-US" sz="1200" dirty="0">
                <a:solidFill>
                  <a:srgbClr val="334155"/>
                </a:solidFill>
                <a:latin typeface="Calibri" pitchFamily="34" charset="0"/>
                <a:ea typeface="Calibri" pitchFamily="34" charset="-122"/>
                <a:cs typeface="Calibri" pitchFamily="34" charset="-120"/>
              </a:rPr>
              <a:t>확신이 없어 진료를 미루거나, 반대로 불필요하게 자주 방문합니다. 적절한 시점 판단이 어렵습니다.</a:t>
            </a:r>
            <a:endParaRPr lang="en-US" sz="1200" dirty="0"/>
          </a:p>
        </p:txBody>
      </p:sp>
      <p:sp>
        <p:nvSpPr>
          <p:cNvPr id="12" name="Shape 10"/>
          <p:cNvSpPr/>
          <p:nvPr/>
        </p:nvSpPr>
        <p:spPr>
          <a:xfrm>
            <a:off x="6309360" y="1143000"/>
            <a:ext cx="2468880" cy="2697480"/>
          </a:xfrm>
          <a:prstGeom prst="roundRect">
            <a:avLst>
              <a:gd name="adj" fmla="val 4444"/>
            </a:avLst>
          </a:prstGeom>
          <a:solidFill>
            <a:srgbClr val="FFFFFF"/>
          </a:solidFill>
          <a:ln w="12700">
            <a:solidFill>
              <a:srgbClr val="D0D8E4"/>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7223760" y="1298448"/>
            <a:ext cx="64008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446520" y="1874520"/>
            <a:ext cx="2194560" cy="365760"/>
          </a:xfrm>
          <a:prstGeom prst="rect">
            <a:avLst/>
          </a:prstGeom>
          <a:noFill/>
          <a:ln/>
        </p:spPr>
        <p:txBody>
          <a:bodyPr wrap="square" rtlCol="0" anchor="ctr"/>
          <a:lstStyle/>
          <a:p>
            <a:pPr algn="ctr" indent="0" marL="0">
              <a:buNone/>
            </a:pPr>
            <a:r>
              <a:rPr lang="en-US" sz="1500" b="1" dirty="0">
                <a:solidFill>
                  <a:srgbClr val="0D1B2A"/>
                </a:solidFill>
                <a:latin typeface="Calibri" pitchFamily="34" charset="0"/>
                <a:ea typeface="Calibri" pitchFamily="34" charset="-122"/>
                <a:cs typeface="Calibri" pitchFamily="34" charset="-120"/>
              </a:rPr>
              <a:t>우리의 목표</a:t>
            </a:r>
            <a:endParaRPr lang="en-US" sz="1500" dirty="0"/>
          </a:p>
        </p:txBody>
      </p:sp>
      <p:sp>
        <p:nvSpPr>
          <p:cNvPr id="15" name="Text 13"/>
          <p:cNvSpPr/>
          <p:nvPr/>
        </p:nvSpPr>
        <p:spPr>
          <a:xfrm>
            <a:off x="6492240" y="2286000"/>
            <a:ext cx="2103120" cy="1417320"/>
          </a:xfrm>
          <a:prstGeom prst="rect">
            <a:avLst/>
          </a:prstGeom>
          <a:noFill/>
          <a:ln/>
        </p:spPr>
        <p:txBody>
          <a:bodyPr wrap="square" rtlCol="0" anchor="ctr"/>
          <a:lstStyle/>
          <a:p>
            <a:pPr algn="ctr" indent="0" marL="0">
              <a:lnSpc>
                <a:spcPct val="112000"/>
              </a:lnSpc>
              <a:buNone/>
            </a:pPr>
            <a:r>
              <a:rPr lang="en-US" sz="1200" dirty="0">
                <a:solidFill>
                  <a:srgbClr val="334155"/>
                </a:solidFill>
                <a:latin typeface="Calibri" pitchFamily="34" charset="0"/>
                <a:ea typeface="Calibri" pitchFamily="34" charset="-122"/>
                <a:cs typeface="Calibri" pitchFamily="34" charset="-120"/>
              </a:rPr>
              <a:t>사진 기반 예측으로 피부 이상 가능성과 위험도를 빠르게 확인해, 보호자의 다음 행동 결정을 보조합니다.</a:t>
            </a:r>
            <a:endParaRPr lang="en-US" sz="1200" dirty="0"/>
          </a:p>
        </p:txBody>
      </p:sp>
      <p:sp>
        <p:nvSpPr>
          <p:cNvPr id="16" name="Shape 14"/>
          <p:cNvSpPr/>
          <p:nvPr/>
        </p:nvSpPr>
        <p:spPr>
          <a:xfrm>
            <a:off x="914400" y="3931920"/>
            <a:ext cx="7315200" cy="457200"/>
          </a:xfrm>
          <a:prstGeom prst="roundRect">
            <a:avLst>
              <a:gd name="adj" fmla="val 16000"/>
            </a:avLst>
          </a:prstGeom>
          <a:solidFill>
            <a:srgbClr val="FEF3C7"/>
          </a:solidFill>
          <a:ln w="12700">
            <a:solidFill>
              <a:srgbClr val="D97706"/>
            </a:solidFill>
            <a:prstDash val="solid"/>
          </a:ln>
        </p:spPr>
      </p:sp>
      <p:sp>
        <p:nvSpPr>
          <p:cNvPr id="17" name="Text 15"/>
          <p:cNvSpPr/>
          <p:nvPr/>
        </p:nvSpPr>
        <p:spPr>
          <a:xfrm>
            <a:off x="914400" y="3931920"/>
            <a:ext cx="7315200" cy="457200"/>
          </a:xfrm>
          <a:prstGeom prst="rect">
            <a:avLst/>
          </a:prstGeom>
          <a:noFill/>
          <a:ln/>
        </p:spPr>
        <p:txBody>
          <a:bodyPr wrap="square" rtlCol="0" anchor="ctr"/>
          <a:lstStyle/>
          <a:p>
            <a:pPr algn="ctr" indent="0" marL="0">
              <a:buNone/>
            </a:pPr>
            <a:r>
              <a:rPr lang="en-US" sz="1300" b="1" dirty="0">
                <a:solidFill>
                  <a:srgbClr val="92400E"/>
                </a:solidFill>
                <a:latin typeface="Calibri" pitchFamily="34" charset="0"/>
                <a:ea typeface="Calibri" pitchFamily="34" charset="-122"/>
                <a:cs typeface="Calibri" pitchFamily="34" charset="-120"/>
              </a:rPr>
              <a:t>"질병 확정 진단이 아닌, 초기 선별을 돕는 보조 도구"로서의 AI</a:t>
            </a:r>
            <a:endParaRPr lang="en-US" sz="1300" dirty="0"/>
          </a:p>
        </p:txBody>
      </p:sp>
      <p:sp>
        <p:nvSpPr>
          <p:cNvPr id="18" name="Text 16"/>
          <p:cNvSpPr/>
          <p:nvPr/>
        </p:nvSpPr>
        <p:spPr>
          <a:xfrm>
            <a:off x="365760" y="4498848"/>
            <a:ext cx="8412480" cy="365760"/>
          </a:xfrm>
          <a:prstGeom prst="rect">
            <a:avLst/>
          </a:prstGeom>
          <a:noFill/>
          <a:ln/>
        </p:spPr>
        <p:txBody>
          <a:bodyPr wrap="square" rtlCol="0" anchor="ctr"/>
          <a:lstStyle/>
          <a:p>
            <a:pPr algn="ctr" indent="0" marL="0">
              <a:buNone/>
            </a:pPr>
            <a:r>
              <a:rPr lang="en-US" sz="1200" b="1" dirty="0">
                <a:solidFill>
                  <a:srgbClr val="F5A623"/>
                </a:solidFill>
                <a:latin typeface="Calibri" pitchFamily="34" charset="0"/>
                <a:ea typeface="Calibri" pitchFamily="34" charset="-122"/>
                <a:cs typeface="Calibri" pitchFamily="34" charset="-120"/>
              </a:rPr>
              <a:t>AI를 '만들었다'가 아니라, 왜 필요했는지가 출발점입니다.</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Text 1"/>
          <p:cNvSpPr/>
          <p:nvPr/>
        </p:nvSpPr>
        <p:spPr>
          <a:xfrm>
            <a:off x="365760" y="73152"/>
            <a:ext cx="8412480" cy="768096"/>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어떤 데이터를 썼는가?</a:t>
            </a:r>
            <a:endParaRPr lang="en-US" sz="2500" dirty="0"/>
          </a:p>
        </p:txBody>
      </p:sp>
      <p:sp>
        <p:nvSpPr>
          <p:cNvPr id="4" name="Shape 2"/>
          <p:cNvSpPr/>
          <p:nvPr/>
        </p:nvSpPr>
        <p:spPr>
          <a:xfrm>
            <a:off x="365760" y="1051560"/>
            <a:ext cx="1920240" cy="1051560"/>
          </a:xfrm>
          <a:prstGeom prst="roundRect">
            <a:avLst>
              <a:gd name="adj" fmla="val 8696"/>
            </a:avLst>
          </a:prstGeom>
          <a:solidFill>
            <a:srgbClr val="0D1B2A"/>
          </a:solidFill>
          <a:ln w="12700">
            <a:solidFill>
              <a:srgbClr val="0D1B2A"/>
            </a:solidFill>
            <a:prstDash val="solid"/>
          </a:ln>
        </p:spPr>
      </p:sp>
      <p:sp>
        <p:nvSpPr>
          <p:cNvPr id="5" name="Text 3"/>
          <p:cNvSpPr/>
          <p:nvPr/>
        </p:nvSpPr>
        <p:spPr>
          <a:xfrm>
            <a:off x="365760" y="1097280"/>
            <a:ext cx="1920240" cy="603504"/>
          </a:xfrm>
          <a:prstGeom prst="rect">
            <a:avLst/>
          </a:prstGeom>
          <a:noFill/>
          <a:ln/>
        </p:spPr>
        <p:txBody>
          <a:bodyPr wrap="square" rtlCol="0" anchor="b"/>
          <a:lstStyle/>
          <a:p>
            <a:pPr algn="ctr" indent="0" marL="0">
              <a:buNone/>
            </a:pPr>
            <a:r>
              <a:rPr lang="en-US" sz="1900" b="1" dirty="0">
                <a:solidFill>
                  <a:srgbClr val="F5A623"/>
                </a:solidFill>
                <a:latin typeface="Calibri" pitchFamily="34" charset="0"/>
                <a:ea typeface="Calibri" pitchFamily="34" charset="-122"/>
                <a:cs typeface="Calibri" pitchFamily="34" charset="-120"/>
              </a:rPr>
              <a:t>34,987</a:t>
            </a:r>
            <a:endParaRPr lang="en-US" sz="1900" dirty="0"/>
          </a:p>
        </p:txBody>
      </p:sp>
      <p:sp>
        <p:nvSpPr>
          <p:cNvPr id="6" name="Text 4"/>
          <p:cNvSpPr/>
          <p:nvPr/>
        </p:nvSpPr>
        <p:spPr>
          <a:xfrm>
            <a:off x="365760" y="1673352"/>
            <a:ext cx="1920240" cy="384048"/>
          </a:xfrm>
          <a:prstGeom prst="rect">
            <a:avLst/>
          </a:prstGeom>
          <a:noFill/>
          <a:ln/>
        </p:spPr>
        <p:txBody>
          <a:bodyPr wrap="square" rtlCol="0" anchor="ctr"/>
          <a:lstStyle/>
          <a:p>
            <a:pPr algn="ctr" indent="0" marL="0">
              <a:buNone/>
            </a:pPr>
            <a:r>
              <a:rPr lang="en-US" sz="1000" dirty="0">
                <a:solidFill>
                  <a:srgbClr val="8899AA"/>
                </a:solidFill>
                <a:latin typeface="Calibri" pitchFamily="34" charset="0"/>
                <a:ea typeface="Calibri" pitchFamily="34" charset="-122"/>
                <a:cs typeface="Calibri" pitchFamily="34" charset="-120"/>
              </a:rPr>
              <a:t>총 학습 이미지</a:t>
            </a:r>
            <a:endParaRPr lang="en-US" sz="1000" dirty="0"/>
          </a:p>
        </p:txBody>
      </p:sp>
      <p:sp>
        <p:nvSpPr>
          <p:cNvPr id="7" name="Shape 5"/>
          <p:cNvSpPr/>
          <p:nvPr/>
        </p:nvSpPr>
        <p:spPr>
          <a:xfrm>
            <a:off x="2487168" y="1051560"/>
            <a:ext cx="1920240" cy="1051560"/>
          </a:xfrm>
          <a:prstGeom prst="roundRect">
            <a:avLst>
              <a:gd name="adj" fmla="val 8696"/>
            </a:avLst>
          </a:prstGeom>
          <a:solidFill>
            <a:srgbClr val="0D1B2A"/>
          </a:solidFill>
          <a:ln w="12700">
            <a:solidFill>
              <a:srgbClr val="0D1B2A"/>
            </a:solidFill>
            <a:prstDash val="solid"/>
          </a:ln>
        </p:spPr>
      </p:sp>
      <p:sp>
        <p:nvSpPr>
          <p:cNvPr id="8" name="Text 6"/>
          <p:cNvSpPr/>
          <p:nvPr/>
        </p:nvSpPr>
        <p:spPr>
          <a:xfrm>
            <a:off x="2487168" y="1097280"/>
            <a:ext cx="1920240" cy="603504"/>
          </a:xfrm>
          <a:prstGeom prst="rect">
            <a:avLst/>
          </a:prstGeom>
          <a:noFill/>
          <a:ln/>
        </p:spPr>
        <p:txBody>
          <a:bodyPr wrap="square" rtlCol="0" anchor="b"/>
          <a:lstStyle/>
          <a:p>
            <a:pPr algn="ctr" indent="0" marL="0">
              <a:buNone/>
            </a:pPr>
            <a:r>
              <a:rPr lang="en-US" sz="1900" b="1" dirty="0">
                <a:solidFill>
                  <a:srgbClr val="F5A623"/>
                </a:solidFill>
                <a:latin typeface="Calibri" pitchFamily="34" charset="0"/>
                <a:ea typeface="Calibri" pitchFamily="34" charset="-122"/>
                <a:cs typeface="Calibri" pitchFamily="34" charset="-120"/>
              </a:rPr>
              <a:t>7</a:t>
            </a:r>
            <a:endParaRPr lang="en-US" sz="1900" dirty="0"/>
          </a:p>
        </p:txBody>
      </p:sp>
      <p:sp>
        <p:nvSpPr>
          <p:cNvPr id="9" name="Text 7"/>
          <p:cNvSpPr/>
          <p:nvPr/>
        </p:nvSpPr>
        <p:spPr>
          <a:xfrm>
            <a:off x="2487168" y="1673352"/>
            <a:ext cx="1920240" cy="384048"/>
          </a:xfrm>
          <a:prstGeom prst="rect">
            <a:avLst/>
          </a:prstGeom>
          <a:noFill/>
          <a:ln/>
        </p:spPr>
        <p:txBody>
          <a:bodyPr wrap="square" rtlCol="0" anchor="ctr"/>
          <a:lstStyle/>
          <a:p>
            <a:pPr algn="ctr" indent="0" marL="0">
              <a:buNone/>
            </a:pPr>
            <a:r>
              <a:rPr lang="en-US" sz="1000" dirty="0">
                <a:solidFill>
                  <a:srgbClr val="8899AA"/>
                </a:solidFill>
                <a:latin typeface="Calibri" pitchFamily="34" charset="0"/>
                <a:ea typeface="Calibri" pitchFamily="34" charset="-122"/>
                <a:cs typeface="Calibri" pitchFamily="34" charset="-120"/>
              </a:rPr>
              <a:t>병변 클래스</a:t>
            </a:r>
            <a:endParaRPr lang="en-US" sz="1000" dirty="0"/>
          </a:p>
        </p:txBody>
      </p:sp>
      <p:sp>
        <p:nvSpPr>
          <p:cNvPr id="10" name="Shape 8"/>
          <p:cNvSpPr/>
          <p:nvPr/>
        </p:nvSpPr>
        <p:spPr>
          <a:xfrm>
            <a:off x="4608576" y="1051560"/>
            <a:ext cx="1920240" cy="1051560"/>
          </a:xfrm>
          <a:prstGeom prst="roundRect">
            <a:avLst>
              <a:gd name="adj" fmla="val 8696"/>
            </a:avLst>
          </a:prstGeom>
          <a:solidFill>
            <a:srgbClr val="0D1B2A"/>
          </a:solidFill>
          <a:ln w="12700">
            <a:solidFill>
              <a:srgbClr val="0D1B2A"/>
            </a:solidFill>
            <a:prstDash val="solid"/>
          </a:ln>
        </p:spPr>
      </p:sp>
      <p:sp>
        <p:nvSpPr>
          <p:cNvPr id="11" name="Text 9"/>
          <p:cNvSpPr/>
          <p:nvPr/>
        </p:nvSpPr>
        <p:spPr>
          <a:xfrm>
            <a:off x="4608576" y="1097280"/>
            <a:ext cx="1920240" cy="603504"/>
          </a:xfrm>
          <a:prstGeom prst="rect">
            <a:avLst/>
          </a:prstGeom>
          <a:noFill/>
          <a:ln/>
        </p:spPr>
        <p:txBody>
          <a:bodyPr wrap="square" rtlCol="0" anchor="b"/>
          <a:lstStyle/>
          <a:p>
            <a:pPr algn="ctr" indent="0" marL="0">
              <a:buNone/>
            </a:pPr>
            <a:r>
              <a:rPr lang="en-US" sz="1900" b="1" dirty="0">
                <a:solidFill>
                  <a:srgbClr val="F5A623"/>
                </a:solidFill>
                <a:latin typeface="Calibri" pitchFamily="34" charset="0"/>
                <a:ea typeface="Calibri" pitchFamily="34" charset="-122"/>
                <a:cs typeface="Calibri" pitchFamily="34" charset="-120"/>
              </a:rPr>
              <a:t>70 / 15 / 15</a:t>
            </a:r>
            <a:endParaRPr lang="en-US" sz="1900" dirty="0"/>
          </a:p>
        </p:txBody>
      </p:sp>
      <p:sp>
        <p:nvSpPr>
          <p:cNvPr id="12" name="Text 10"/>
          <p:cNvSpPr/>
          <p:nvPr/>
        </p:nvSpPr>
        <p:spPr>
          <a:xfrm>
            <a:off x="4608576" y="1673352"/>
            <a:ext cx="1920240" cy="384048"/>
          </a:xfrm>
          <a:prstGeom prst="rect">
            <a:avLst/>
          </a:prstGeom>
          <a:noFill/>
          <a:ln/>
        </p:spPr>
        <p:txBody>
          <a:bodyPr wrap="square" rtlCol="0" anchor="ctr"/>
          <a:lstStyle/>
          <a:p>
            <a:pPr algn="ctr" indent="0" marL="0">
              <a:buNone/>
            </a:pPr>
            <a:r>
              <a:rPr lang="en-US" sz="1000" dirty="0">
                <a:solidFill>
                  <a:srgbClr val="8899AA"/>
                </a:solidFill>
                <a:latin typeface="Calibri" pitchFamily="34" charset="0"/>
                <a:ea typeface="Calibri" pitchFamily="34" charset="-122"/>
                <a:cs typeface="Calibri" pitchFamily="34" charset="-120"/>
              </a:rPr>
              <a:t>Train/Val/Test(%)</a:t>
            </a:r>
            <a:endParaRPr lang="en-US" sz="1000" dirty="0"/>
          </a:p>
        </p:txBody>
      </p:sp>
      <p:sp>
        <p:nvSpPr>
          <p:cNvPr id="13" name="Shape 11"/>
          <p:cNvSpPr/>
          <p:nvPr/>
        </p:nvSpPr>
        <p:spPr>
          <a:xfrm>
            <a:off x="6729984" y="1051560"/>
            <a:ext cx="1920240" cy="1051560"/>
          </a:xfrm>
          <a:prstGeom prst="roundRect">
            <a:avLst>
              <a:gd name="adj" fmla="val 8696"/>
            </a:avLst>
          </a:prstGeom>
          <a:solidFill>
            <a:srgbClr val="0D1B2A"/>
          </a:solidFill>
          <a:ln w="12700">
            <a:solidFill>
              <a:srgbClr val="0D1B2A"/>
            </a:solidFill>
            <a:prstDash val="solid"/>
          </a:ln>
        </p:spPr>
      </p:sp>
      <p:sp>
        <p:nvSpPr>
          <p:cNvPr id="14" name="Text 12"/>
          <p:cNvSpPr/>
          <p:nvPr/>
        </p:nvSpPr>
        <p:spPr>
          <a:xfrm>
            <a:off x="6729984" y="1097280"/>
            <a:ext cx="1920240" cy="603504"/>
          </a:xfrm>
          <a:prstGeom prst="rect">
            <a:avLst/>
          </a:prstGeom>
          <a:noFill/>
          <a:ln/>
        </p:spPr>
        <p:txBody>
          <a:bodyPr wrap="square" rtlCol="0" anchor="b"/>
          <a:lstStyle/>
          <a:p>
            <a:pPr algn="ctr" indent="0" marL="0">
              <a:buNone/>
            </a:pPr>
            <a:r>
              <a:rPr lang="en-US" sz="1900" b="1" dirty="0">
                <a:solidFill>
                  <a:srgbClr val="F5A623"/>
                </a:solidFill>
                <a:latin typeface="Calibri" pitchFamily="34" charset="0"/>
                <a:ea typeface="Calibri" pitchFamily="34" charset="-122"/>
                <a:cs typeface="Calibri" pitchFamily="34" charset="-120"/>
              </a:rPr>
              <a:t>~5,000장</a:t>
            </a:r>
            <a:endParaRPr lang="en-US" sz="1900" dirty="0"/>
          </a:p>
        </p:txBody>
      </p:sp>
      <p:sp>
        <p:nvSpPr>
          <p:cNvPr id="15" name="Text 13"/>
          <p:cNvSpPr/>
          <p:nvPr/>
        </p:nvSpPr>
        <p:spPr>
          <a:xfrm>
            <a:off x="6729984" y="1673352"/>
            <a:ext cx="1920240" cy="384048"/>
          </a:xfrm>
          <a:prstGeom prst="rect">
            <a:avLst/>
          </a:prstGeom>
          <a:noFill/>
          <a:ln/>
        </p:spPr>
        <p:txBody>
          <a:bodyPr wrap="square" rtlCol="0" anchor="ctr"/>
          <a:lstStyle/>
          <a:p>
            <a:pPr algn="ctr" indent="0" marL="0">
              <a:buNone/>
            </a:pPr>
            <a:r>
              <a:rPr lang="en-US" sz="1000" dirty="0">
                <a:solidFill>
                  <a:srgbClr val="8899AA"/>
                </a:solidFill>
                <a:latin typeface="Calibri" pitchFamily="34" charset="0"/>
                <a:ea typeface="Calibri" pitchFamily="34" charset="-122"/>
                <a:cs typeface="Calibri" pitchFamily="34" charset="-120"/>
              </a:rPr>
              <a:t>클래스별 균등 샘플</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2286000"/>
          <a:ext cx="3657600" cy="914400"/>
        </p:xfrm>
        <a:graphic>
          <a:graphicData uri="http://schemas.openxmlformats.org/drawingml/2006/table">
            <a:tbl>
              <a:tblPr/>
              <a:tblGrid>
                <a:gridCol w="914400"/>
                <a:gridCol w="2743200"/>
              </a:tblGrid>
              <a:tr h="24688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코드</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0D1B2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병변 유형</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0D1B2A"/>
                    </a:solidFill>
                  </a:tcPr>
                </a:tc>
              </a:tr>
              <a:tr h="246888">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A1</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구진 / 플라크</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46888">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A2</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비듬 / 각질</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46888">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A3</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태선화 / 색소침착</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46888">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A4</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농포 / 여드름</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46888">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A5</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미란 / 궤양</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46888">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A6</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결절 / 종괴</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46888">
                <a:tc>
                  <a:txBody>
                    <a:bodyPr/>
                    <a:lstStyle/>
                    <a:p>
                      <a:pPr algn="l" indent="0" marL="0">
                        <a:buNone/>
                      </a:pPr>
                      <a:r>
                        <a:rPr lang="en-US" sz="1150" dirty="0">
                          <a:solidFill>
                            <a:srgbClr val="16A34A"/>
                          </a:solidFill>
                          <a:latin typeface="Calibri" pitchFamily="34" charset="0"/>
                          <a:ea typeface="Calibri" pitchFamily="34" charset="-122"/>
                          <a:cs typeface="Calibri" pitchFamily="34" charset="-120"/>
                        </a:rPr>
                        <a:t>A7</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A34A"/>
                          </a:solidFill>
                          <a:latin typeface="Calibri" pitchFamily="34" charset="0"/>
                          <a:ea typeface="Calibri" pitchFamily="34" charset="-122"/>
                          <a:cs typeface="Calibri" pitchFamily="34" charset="-120"/>
                        </a:rPr>
                        <a:t>무증상 (정상)</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bl>
          </a:graphicData>
        </a:graphic>
      </p:graphicFrame>
      <p:sp>
        <p:nvSpPr>
          <p:cNvPr id="17" name="Shape 14"/>
          <p:cNvSpPr/>
          <p:nvPr/>
        </p:nvSpPr>
        <p:spPr>
          <a:xfrm>
            <a:off x="4389120" y="2286000"/>
            <a:ext cx="4480560" cy="1737360"/>
          </a:xfrm>
          <a:prstGeom prst="roundRect">
            <a:avLst>
              <a:gd name="adj" fmla="val 6316"/>
            </a:avLst>
          </a:prstGeom>
          <a:solidFill>
            <a:srgbClr val="FFFFFF"/>
          </a:solidFill>
          <a:ln w="12700">
            <a:solidFill>
              <a:srgbClr val="D0D8E4"/>
            </a:solidFill>
            <a:prstDash val="solid"/>
          </a:ln>
          <a:effectLst>
            <a:outerShdw sx="100000" sy="100000" kx="0" ky="0" algn="bl" rotWithShape="0" blurRad="101600" dist="38100" dir="2700000">
              <a:srgbClr val="000000">
                <a:alpha val="12000"/>
              </a:srgbClr>
            </a:outerShdw>
          </a:effectLst>
        </p:spPr>
      </p:sp>
      <p:sp>
        <p:nvSpPr>
          <p:cNvPr id="18" name="Text 15"/>
          <p:cNvSpPr/>
          <p:nvPr/>
        </p:nvSpPr>
        <p:spPr>
          <a:xfrm>
            <a:off x="4526280" y="2377440"/>
            <a:ext cx="4206240" cy="36576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데이터 출처 · 입력 · 처리</a:t>
            </a:r>
            <a:endParaRPr lang="en-US" sz="1300" dirty="0"/>
          </a:p>
        </p:txBody>
      </p:sp>
      <p:sp>
        <p:nvSpPr>
          <p:cNvPr id="19" name="Text 16"/>
          <p:cNvSpPr/>
          <p:nvPr/>
        </p:nvSpPr>
        <p:spPr>
          <a:xfrm>
            <a:off x="4526280" y="2788920"/>
            <a:ext cx="4206240" cy="1188720"/>
          </a:xfrm>
          <a:prstGeom prst="rect">
            <a:avLst/>
          </a:prstGeom>
          <a:noFill/>
          <a:ln/>
        </p:spPr>
        <p:txBody>
          <a:bodyPr wrap="square" rtlCol="0" anchor="ctr"/>
          <a:lstStyle/>
          <a:p>
            <a:pPr indent="0" marL="0">
              <a:lnSpc>
                <a:spcPct val="115000"/>
              </a:lnSpc>
              <a:buNone/>
            </a:pPr>
            <a:r>
              <a:rPr lang="en-US" sz="1200" b="1" dirty="0">
                <a:solidFill>
                  <a:srgbClr val="0D1B2A"/>
                </a:solidFill>
                <a:latin typeface="Calibri" pitchFamily="34" charset="0"/>
                <a:ea typeface="Calibri" pitchFamily="34" charset="-122"/>
                <a:cs typeface="Calibri" pitchFamily="34" charset="-120"/>
              </a:rPr>
              <a:t>출처: </a:t>
            </a:r>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AI Hub 반려동물 피부 질환 데이터 (No.561)</a:t>
            </a:r>
            <a:endParaRPr lang="en-US" sz="1200" dirty="0"/>
          </a:p>
          <a:p>
            <a:pPr indent="0" marL="0">
              <a:lnSpc>
                <a:spcPct val="115000"/>
              </a:lnSpc>
              <a:buNone/>
            </a:pPr>
            <a:r>
              <a:rPr lang="en-US" sz="1200" b="1" dirty="0">
                <a:solidFill>
                  <a:srgbClr val="0D1B2A"/>
                </a:solidFill>
                <a:latin typeface="Calibri" pitchFamily="34" charset="0"/>
                <a:ea typeface="Calibri" pitchFamily="34" charset="-122"/>
                <a:cs typeface="Calibri" pitchFamily="34" charset="-120"/>
              </a:rPr>
              <a:t>입력: </a:t>
            </a:r>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피부 이미지 + 동물 종류·부위(메타정보)</a:t>
            </a:r>
            <a:endParaRPr lang="en-US" sz="1200" dirty="0"/>
          </a:p>
          <a:p>
            <a:pPr indent="0" marL="0">
              <a:lnSpc>
                <a:spcPct val="115000"/>
              </a:lnSpc>
              <a:buNone/>
            </a:pPr>
            <a:r>
              <a:rPr lang="en-US" sz="1200" b="1" dirty="0">
                <a:solidFill>
                  <a:srgbClr val="0D1B2A"/>
                </a:solidFill>
                <a:latin typeface="Calibri" pitchFamily="34" charset="0"/>
                <a:ea typeface="Calibri" pitchFamily="34" charset="-122"/>
                <a:cs typeface="Calibri" pitchFamily="34" charset="-120"/>
              </a:rPr>
              <a:t>Target: </a:t>
            </a:r>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7개 병변 유형 / 정상 여부</a:t>
            </a:r>
            <a:endParaRPr lang="en-US" sz="1200" dirty="0"/>
          </a:p>
          <a:p>
            <a:pPr indent="0" marL="0">
              <a:lnSpc>
                <a:spcPct val="115000"/>
              </a:lnSpc>
              <a:buNone/>
            </a:pPr>
            <a:r>
              <a:rPr lang="en-US" sz="1200" b="1" dirty="0">
                <a:solidFill>
                  <a:srgbClr val="0D1B2A"/>
                </a:solidFill>
                <a:latin typeface="Calibri" pitchFamily="34" charset="0"/>
                <a:ea typeface="Calibri" pitchFamily="34" charset="-122"/>
                <a:cs typeface="Calibri" pitchFamily="34" charset="-120"/>
              </a:rPr>
              <a:t>처리: </a:t>
            </a:r>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MD5 중복제거 · 품질 스크리닝 · 층화 샘플링</a:t>
            </a:r>
            <a:endParaRPr lang="en-US" sz="1200" dirty="0"/>
          </a:p>
        </p:txBody>
      </p:sp>
      <p:sp>
        <p:nvSpPr>
          <p:cNvPr id="20" name="Shape 17"/>
          <p:cNvSpPr/>
          <p:nvPr/>
        </p:nvSpPr>
        <p:spPr>
          <a:xfrm>
            <a:off x="274320" y="4434840"/>
            <a:ext cx="8595360" cy="548640"/>
          </a:xfrm>
          <a:prstGeom prst="roundRect">
            <a:avLst>
              <a:gd name="adj" fmla="val 13333"/>
            </a:avLst>
          </a:prstGeom>
          <a:solidFill>
            <a:srgbClr val="0D1B2A"/>
          </a:solidFill>
          <a:ln w="12700">
            <a:solidFill>
              <a:srgbClr val="0D1B2A"/>
            </a:solidFill>
            <a:prstDash val="solid"/>
          </a:ln>
        </p:spPr>
      </p:sp>
      <p:sp>
        <p:nvSpPr>
          <p:cNvPr id="21" name="Text 18"/>
          <p:cNvSpPr/>
          <p:nvPr/>
        </p:nvSpPr>
        <p:spPr>
          <a:xfrm>
            <a:off x="411480" y="4434840"/>
            <a:ext cx="8321040" cy="548640"/>
          </a:xfrm>
          <a:prstGeom prst="rect">
            <a:avLst/>
          </a:prstGeom>
          <a:noFill/>
          <a:ln/>
        </p:spPr>
        <p:txBody>
          <a:bodyPr wrap="square" rtlCol="0" anchor="ctr"/>
          <a:lstStyle/>
          <a:p>
            <a:pPr algn="l" indent="0" marL="0">
              <a:buNone/>
            </a:pPr>
            <a:r>
              <a:rPr lang="en-US" sz="1200" b="1" dirty="0">
                <a:solidFill>
                  <a:srgbClr val="F5A623"/>
                </a:solidFill>
                <a:latin typeface="Calibri" pitchFamily="34" charset="0"/>
                <a:ea typeface="Calibri" pitchFamily="34" charset="-122"/>
                <a:cs typeface="Calibri" pitchFamily="34" charset="-120"/>
              </a:rPr>
              <a:t>결론  이미지와 메타정보로 7개 병변 클래스를 예측하도록 데이터를 구성했습니다.</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Text 1"/>
          <p:cNvSpPr/>
          <p:nvPr/>
        </p:nvSpPr>
        <p:spPr>
          <a:xfrm>
            <a:off x="365760" y="73152"/>
            <a:ext cx="8412480" cy="768096"/>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데이터에서 무엇을 발견했는가?</a:t>
            </a:r>
            <a:endParaRPr lang="en-US" sz="2500" dirty="0"/>
          </a:p>
        </p:txBody>
      </p:sp>
      <p:graphicFrame>
        <p:nvGraphicFramePr>
          <p:cNvPr id="4" name="Chart 0" descr=""/>
          <p:cNvGraphicFramePr/>
          <p:nvPr/>
        </p:nvGraphicFramePr>
        <p:xfrm>
          <a:off x="274320" y="1097280"/>
          <a:ext cx="3383280" cy="26517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3840480" y="1097280"/>
            <a:ext cx="5029200" cy="1024128"/>
          </a:xfrm>
          <a:prstGeom prst="roundRect">
            <a:avLst>
              <a:gd name="adj" fmla="val 8929"/>
            </a:avLst>
          </a:prstGeom>
          <a:solidFill>
            <a:srgbClr val="FFFFFF"/>
          </a:solidFill>
          <a:ln w="12700">
            <a:solidFill>
              <a:srgbClr val="D0D8E4"/>
            </a:solidFill>
            <a:prstDash val="solid"/>
          </a:ln>
          <a:effectLst>
            <a:outerShdw sx="100000" sy="100000" kx="0" ky="0" algn="bl" rotWithShape="0" blurRad="101600" dist="38100" dir="2700000">
              <a:srgbClr val="000000">
                <a:alpha val="12000"/>
              </a:srgbClr>
            </a:outerShdw>
          </a:effectLst>
        </p:spPr>
      </p:sp>
      <p:sp>
        <p:nvSpPr>
          <p:cNvPr id="6" name="Text 3"/>
          <p:cNvSpPr/>
          <p:nvPr/>
        </p:nvSpPr>
        <p:spPr>
          <a:xfrm>
            <a:off x="3977640" y="1170432"/>
            <a:ext cx="4754880" cy="274320"/>
          </a:xfrm>
          <a:prstGeom prst="rect">
            <a:avLst/>
          </a:prstGeom>
          <a:noFill/>
          <a:ln/>
        </p:spPr>
        <p:txBody>
          <a:bodyPr wrap="square"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축종 불균형</a:t>
            </a:r>
            <a:endParaRPr lang="en-US" sz="1250" dirty="0"/>
          </a:p>
        </p:txBody>
      </p:sp>
      <p:sp>
        <p:nvSpPr>
          <p:cNvPr id="7" name="Text 4"/>
          <p:cNvSpPr/>
          <p:nvPr/>
        </p:nvSpPr>
        <p:spPr>
          <a:xfrm>
            <a:off x="3977640" y="1463040"/>
            <a:ext cx="4754880" cy="274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강아지 88.6% vs 고양이 11.4%.</a:t>
            </a:r>
            <a:endParaRPr lang="en-US" sz="1100" dirty="0"/>
          </a:p>
        </p:txBody>
      </p:sp>
      <p:sp>
        <p:nvSpPr>
          <p:cNvPr id="8" name="Text 5"/>
          <p:cNvSpPr/>
          <p:nvPr/>
        </p:nvSpPr>
        <p:spPr>
          <a:xfrm>
            <a:off x="3977640" y="1755648"/>
            <a:ext cx="4754880" cy="310896"/>
          </a:xfrm>
          <a:prstGeom prst="rect">
            <a:avLst/>
          </a:prstGeom>
          <a:noFill/>
          <a:ln/>
        </p:spPr>
        <p:txBody>
          <a:bodyPr wrap="square"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 단순 정확도는 고양이 성능을 가릴 수 있어 클래스·축종별로 따로 확인</a:t>
            </a:r>
            <a:endParaRPr lang="en-US" sz="1100" dirty="0"/>
          </a:p>
        </p:txBody>
      </p:sp>
      <p:sp>
        <p:nvSpPr>
          <p:cNvPr id="9" name="Shape 6"/>
          <p:cNvSpPr/>
          <p:nvPr/>
        </p:nvSpPr>
        <p:spPr>
          <a:xfrm>
            <a:off x="3840480" y="2240280"/>
            <a:ext cx="5029200" cy="1024128"/>
          </a:xfrm>
          <a:prstGeom prst="roundRect">
            <a:avLst>
              <a:gd name="adj" fmla="val 8929"/>
            </a:avLst>
          </a:prstGeom>
          <a:solidFill>
            <a:srgbClr val="FFFFFF"/>
          </a:solidFill>
          <a:ln w="12700">
            <a:solidFill>
              <a:srgbClr val="D0D8E4"/>
            </a:solidFill>
            <a:prstDash val="solid"/>
          </a:ln>
          <a:effectLst>
            <a:outerShdw sx="100000" sy="100000" kx="0" ky="0" algn="bl" rotWithShape="0" blurRad="101600" dist="38100" dir="2700000">
              <a:srgbClr val="000000">
                <a:alpha val="12000"/>
              </a:srgbClr>
            </a:outerShdw>
          </a:effectLst>
        </p:spPr>
      </p:sp>
      <p:sp>
        <p:nvSpPr>
          <p:cNvPr id="10" name="Text 7"/>
          <p:cNvSpPr/>
          <p:nvPr/>
        </p:nvSpPr>
        <p:spPr>
          <a:xfrm>
            <a:off x="3977640" y="2313432"/>
            <a:ext cx="4754880" cy="274320"/>
          </a:xfrm>
          <a:prstGeom prst="rect">
            <a:avLst/>
          </a:prstGeom>
          <a:noFill/>
          <a:ln/>
        </p:spPr>
        <p:txBody>
          <a:bodyPr wrap="square"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클래스 균등 · 부위 편중</a:t>
            </a:r>
            <a:endParaRPr lang="en-US" sz="1250" dirty="0"/>
          </a:p>
        </p:txBody>
      </p:sp>
      <p:sp>
        <p:nvSpPr>
          <p:cNvPr id="11" name="Text 8"/>
          <p:cNvSpPr/>
          <p:nvPr/>
        </p:nvSpPr>
        <p:spPr>
          <a:xfrm>
            <a:off x="3977640" y="2606040"/>
            <a:ext cx="4754880" cy="274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7개 클래스는 균형. 단 일부 병변은 귀·발 등에 집중.</a:t>
            </a:r>
            <a:endParaRPr lang="en-US" sz="1100" dirty="0"/>
          </a:p>
        </p:txBody>
      </p:sp>
      <p:sp>
        <p:nvSpPr>
          <p:cNvPr id="12" name="Text 9"/>
          <p:cNvSpPr/>
          <p:nvPr/>
        </p:nvSpPr>
        <p:spPr>
          <a:xfrm>
            <a:off x="3977640" y="2898648"/>
            <a:ext cx="4754880" cy="310896"/>
          </a:xfrm>
          <a:prstGeom prst="rect">
            <a:avLst/>
          </a:prstGeom>
          <a:noFill/>
          <a:ln/>
        </p:spPr>
        <p:txBody>
          <a:bodyPr wrap="square"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 Accuracy보다 클래스별 Precision·Recall·F1 확인이 필수</a:t>
            </a:r>
            <a:endParaRPr lang="en-US" sz="1100" dirty="0"/>
          </a:p>
        </p:txBody>
      </p:sp>
      <p:sp>
        <p:nvSpPr>
          <p:cNvPr id="13" name="Shape 10"/>
          <p:cNvSpPr/>
          <p:nvPr/>
        </p:nvSpPr>
        <p:spPr>
          <a:xfrm>
            <a:off x="3840480" y="3383280"/>
            <a:ext cx="5029200" cy="1024128"/>
          </a:xfrm>
          <a:prstGeom prst="roundRect">
            <a:avLst>
              <a:gd name="adj" fmla="val 8929"/>
            </a:avLst>
          </a:prstGeom>
          <a:solidFill>
            <a:srgbClr val="FFFFFF"/>
          </a:solidFill>
          <a:ln w="12700">
            <a:solidFill>
              <a:srgbClr val="D0D8E4"/>
            </a:solidFill>
            <a:prstDash val="solid"/>
          </a:ln>
          <a:effectLst>
            <a:outerShdw sx="100000" sy="100000" kx="0" ky="0" algn="bl" rotWithShape="0" blurRad="101600" dist="38100" dir="2700000">
              <a:srgbClr val="000000">
                <a:alpha val="12000"/>
              </a:srgbClr>
            </a:outerShdw>
          </a:effectLst>
        </p:spPr>
      </p:sp>
      <p:sp>
        <p:nvSpPr>
          <p:cNvPr id="14" name="Text 11"/>
          <p:cNvSpPr/>
          <p:nvPr/>
        </p:nvSpPr>
        <p:spPr>
          <a:xfrm>
            <a:off x="3977640" y="3456432"/>
            <a:ext cx="4754880" cy="274320"/>
          </a:xfrm>
          <a:prstGeom prst="rect">
            <a:avLst/>
          </a:prstGeom>
          <a:noFill/>
          <a:ln/>
        </p:spPr>
        <p:txBody>
          <a:bodyPr wrap="square" rtlCol="0" anchor="ctr"/>
          <a:lstStyle/>
          <a:p>
            <a:pPr indent="0" marL="0">
              <a:buNone/>
            </a:pPr>
            <a:r>
              <a:rPr lang="en-US" sz="1250" b="1" dirty="0">
                <a:solidFill>
                  <a:srgbClr val="D97706"/>
                </a:solidFill>
                <a:latin typeface="Calibri" pitchFamily="34" charset="0"/>
                <a:ea typeface="Calibri" pitchFamily="34" charset="-122"/>
                <a:cs typeface="Calibri" pitchFamily="34" charset="-120"/>
              </a:rPr>
              <a:t>A2(비듬) ↔ A3(태선화) 유사</a:t>
            </a:r>
            <a:endParaRPr lang="en-US" sz="1250" dirty="0"/>
          </a:p>
        </p:txBody>
      </p:sp>
      <p:sp>
        <p:nvSpPr>
          <p:cNvPr id="15" name="Text 12"/>
          <p:cNvSpPr/>
          <p:nvPr/>
        </p:nvSpPr>
        <p:spPr>
          <a:xfrm>
            <a:off x="3977640" y="3749040"/>
            <a:ext cx="4754880" cy="274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육안으로도 구분이 어려운 외형.</a:t>
            </a:r>
            <a:endParaRPr lang="en-US" sz="1100" dirty="0"/>
          </a:p>
        </p:txBody>
      </p:sp>
      <p:sp>
        <p:nvSpPr>
          <p:cNvPr id="16" name="Text 13"/>
          <p:cNvSpPr/>
          <p:nvPr/>
        </p:nvSpPr>
        <p:spPr>
          <a:xfrm>
            <a:off x="3977640" y="4041648"/>
            <a:ext cx="4754880" cy="310896"/>
          </a:xfrm>
          <a:prstGeom prst="rect">
            <a:avLst/>
          </a:prstGeom>
          <a:noFill/>
          <a:ln/>
        </p:spPr>
        <p:txBody>
          <a:bodyPr wrap="square"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 Confusion Matrix로 혼동 패턴을 미리 파악</a:t>
            </a:r>
            <a:endParaRPr lang="en-US" sz="1100" dirty="0"/>
          </a:p>
        </p:txBody>
      </p:sp>
      <p:sp>
        <p:nvSpPr>
          <p:cNvPr id="17" name="Shape 14"/>
          <p:cNvSpPr/>
          <p:nvPr/>
        </p:nvSpPr>
        <p:spPr>
          <a:xfrm>
            <a:off x="274320" y="4434840"/>
            <a:ext cx="8595360" cy="548640"/>
          </a:xfrm>
          <a:prstGeom prst="roundRect">
            <a:avLst>
              <a:gd name="adj" fmla="val 13333"/>
            </a:avLst>
          </a:prstGeom>
          <a:solidFill>
            <a:srgbClr val="0D1B2A"/>
          </a:solidFill>
          <a:ln w="12700">
            <a:solidFill>
              <a:srgbClr val="0D1B2A"/>
            </a:solidFill>
            <a:prstDash val="solid"/>
          </a:ln>
        </p:spPr>
      </p:sp>
      <p:sp>
        <p:nvSpPr>
          <p:cNvPr id="18" name="Text 15"/>
          <p:cNvSpPr/>
          <p:nvPr/>
        </p:nvSpPr>
        <p:spPr>
          <a:xfrm>
            <a:off x="411480" y="4434840"/>
            <a:ext cx="8321040" cy="548640"/>
          </a:xfrm>
          <a:prstGeom prst="rect">
            <a:avLst/>
          </a:prstGeom>
          <a:noFill/>
          <a:ln/>
        </p:spPr>
        <p:txBody>
          <a:bodyPr wrap="square" rtlCol="0" anchor="ctr"/>
          <a:lstStyle/>
          <a:p>
            <a:pPr algn="l" indent="0" marL="0">
              <a:buNone/>
            </a:pPr>
            <a:r>
              <a:rPr lang="en-US" sz="1200" b="1" dirty="0">
                <a:solidFill>
                  <a:srgbClr val="F5A623"/>
                </a:solidFill>
                <a:latin typeface="Calibri" pitchFamily="34" charset="0"/>
                <a:ea typeface="Calibri" pitchFamily="34" charset="-122"/>
                <a:cs typeface="Calibri" pitchFamily="34" charset="-120"/>
              </a:rPr>
              <a:t>결론  불균형·클래스 유사성 때문에, 단순 정확도보다 클래스별 지표 확인이 중요했습니다.</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Text 1"/>
          <p:cNvSpPr/>
          <p:nvPr/>
        </p:nvSpPr>
        <p:spPr>
          <a:xfrm>
            <a:off x="365760" y="73152"/>
            <a:ext cx="8412480" cy="768096"/>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어떤 방식으로 모델링했는가?</a:t>
            </a:r>
            <a:endParaRPr lang="en-US" sz="2500" dirty="0"/>
          </a:p>
        </p:txBody>
      </p:sp>
      <p:sp>
        <p:nvSpPr>
          <p:cNvPr id="4" name="Shape 2"/>
          <p:cNvSpPr/>
          <p:nvPr/>
        </p:nvSpPr>
        <p:spPr>
          <a:xfrm>
            <a:off x="365760" y="1097280"/>
            <a:ext cx="2743200" cy="1143000"/>
          </a:xfrm>
          <a:prstGeom prst="roundRect">
            <a:avLst>
              <a:gd name="adj" fmla="val 8000"/>
            </a:avLst>
          </a:prstGeom>
          <a:solidFill>
            <a:srgbClr val="FFFFFF"/>
          </a:solidFill>
          <a:ln w="12700">
            <a:solidFill>
              <a:srgbClr val="1C3D6E"/>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1188720"/>
            <a:ext cx="2468880" cy="310896"/>
          </a:xfrm>
          <a:prstGeom prst="rect">
            <a:avLst/>
          </a:prstGeom>
          <a:noFill/>
          <a:ln/>
        </p:spPr>
        <p:txBody>
          <a:bodyPr wrap="square" rtlCol="0" anchor="ctr"/>
          <a:lstStyle/>
          <a:p>
            <a:pPr indent="0" marL="0">
              <a:buNone/>
            </a:pPr>
            <a:r>
              <a:rPr lang="en-US" sz="1250" b="1" dirty="0">
                <a:solidFill>
                  <a:srgbClr val="1C3D6E"/>
                </a:solidFill>
                <a:latin typeface="Calibri" pitchFamily="34" charset="0"/>
                <a:ea typeface="Calibri" pitchFamily="34" charset="-122"/>
                <a:cs typeface="Calibri" pitchFamily="34" charset="-120"/>
              </a:rPr>
              <a:t>직접 설계 CNN</a:t>
            </a:r>
            <a:endParaRPr lang="en-US" sz="1250" dirty="0"/>
          </a:p>
        </p:txBody>
      </p:sp>
      <p:sp>
        <p:nvSpPr>
          <p:cNvPr id="6" name="Text 4"/>
          <p:cNvSpPr/>
          <p:nvPr/>
        </p:nvSpPr>
        <p:spPr>
          <a:xfrm>
            <a:off x="502920" y="1481328"/>
            <a:ext cx="2468880" cy="384048"/>
          </a:xfrm>
          <a:prstGeom prst="rect">
            <a:avLst/>
          </a:prstGeom>
          <a:noFill/>
          <a:ln/>
        </p:spPr>
        <p:txBody>
          <a:bodyPr wrap="square" rtlCol="0" anchor="ctr"/>
          <a:lstStyle/>
          <a:p>
            <a:pPr indent="0" marL="0">
              <a:buNone/>
            </a:pPr>
            <a:r>
              <a:rPr lang="en-US" sz="2200" b="1" dirty="0">
                <a:solidFill>
                  <a:srgbClr val="0D1B2A"/>
                </a:solidFill>
                <a:latin typeface="Calibri" pitchFamily="34" charset="0"/>
                <a:ea typeface="Calibri" pitchFamily="34" charset="-122"/>
                <a:cs typeface="Calibri" pitchFamily="34" charset="-120"/>
              </a:rPr>
              <a:t>42.0%</a:t>
            </a:r>
            <a:endParaRPr lang="en-US" sz="2200" dirty="0"/>
          </a:p>
        </p:txBody>
      </p:sp>
      <p:sp>
        <p:nvSpPr>
          <p:cNvPr id="7" name="Text 5"/>
          <p:cNvSpPr/>
          <p:nvPr/>
        </p:nvSpPr>
        <p:spPr>
          <a:xfrm>
            <a:off x="502920" y="1901952"/>
            <a:ext cx="2468880" cy="274320"/>
          </a:xfrm>
          <a:prstGeom prst="rect">
            <a:avLst/>
          </a:prstGeom>
          <a:noFill/>
          <a:ln/>
        </p:spPr>
        <p:txBody>
          <a:bodyPr wrap="square" rtlCol="0" anchor="ctr"/>
          <a:lstStyle/>
          <a:p>
            <a:pPr indent="0" marL="0">
              <a:buNone/>
            </a:pPr>
            <a:r>
              <a:rPr lang="en-US" sz="1000" dirty="0">
                <a:solidFill>
                  <a:srgbClr val="8899AA"/>
                </a:solidFill>
                <a:latin typeface="Calibri" pitchFamily="34" charset="0"/>
                <a:ea typeface="Calibri" pitchFamily="34" charset="-122"/>
                <a:cs typeface="Calibri" pitchFamily="34" charset="-120"/>
              </a:rPr>
              <a:t>Conv2D ×4 · 128px</a:t>
            </a:r>
            <a:endParaRPr lang="en-US" sz="1000" dirty="0"/>
          </a:p>
        </p:txBody>
      </p:sp>
      <p:sp>
        <p:nvSpPr>
          <p:cNvPr id="8" name="Text 6"/>
          <p:cNvSpPr/>
          <p:nvPr/>
        </p:nvSpPr>
        <p:spPr>
          <a:xfrm>
            <a:off x="3108960" y="1517904"/>
            <a:ext cx="320040" cy="320040"/>
          </a:xfrm>
          <a:prstGeom prst="rect">
            <a:avLst/>
          </a:prstGeom>
          <a:noFill/>
          <a:ln/>
        </p:spPr>
        <p:txBody>
          <a:bodyPr wrap="square" rtlCol="0" anchor="ctr"/>
          <a:lstStyle/>
          <a:p>
            <a:pPr algn="ctr" indent="0" marL="0">
              <a:buNone/>
            </a:pPr>
            <a:r>
              <a:rPr lang="en-US" sz="1500" dirty="0">
                <a:solidFill>
                  <a:srgbClr val="8899AA"/>
                </a:solidFill>
              </a:rPr>
              <a:t>▶</a:t>
            </a:r>
            <a:endParaRPr lang="en-US" sz="1500" dirty="0"/>
          </a:p>
        </p:txBody>
      </p:sp>
      <p:sp>
        <p:nvSpPr>
          <p:cNvPr id="9" name="Shape 7"/>
          <p:cNvSpPr/>
          <p:nvPr/>
        </p:nvSpPr>
        <p:spPr>
          <a:xfrm>
            <a:off x="3063240" y="1097280"/>
            <a:ext cx="2743200" cy="1143000"/>
          </a:xfrm>
          <a:prstGeom prst="roundRect">
            <a:avLst>
              <a:gd name="adj" fmla="val 8000"/>
            </a:avLst>
          </a:prstGeom>
          <a:solidFill>
            <a:srgbClr val="FFFFFF"/>
          </a:solidFill>
          <a:ln w="12700">
            <a:solidFill>
              <a:srgbClr val="028090"/>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3200400" y="1188720"/>
            <a:ext cx="2468880" cy="310896"/>
          </a:xfrm>
          <a:prstGeom prst="rect">
            <a:avLst/>
          </a:prstGeom>
          <a:noFill/>
          <a:ln/>
        </p:spPr>
        <p:txBody>
          <a:bodyPr wrap="square"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EfficientNetB0 (frozen)</a:t>
            </a:r>
            <a:endParaRPr lang="en-US" sz="1250" dirty="0"/>
          </a:p>
        </p:txBody>
      </p:sp>
      <p:sp>
        <p:nvSpPr>
          <p:cNvPr id="11" name="Text 9"/>
          <p:cNvSpPr/>
          <p:nvPr/>
        </p:nvSpPr>
        <p:spPr>
          <a:xfrm>
            <a:off x="3200400" y="1481328"/>
            <a:ext cx="2468880" cy="384048"/>
          </a:xfrm>
          <a:prstGeom prst="rect">
            <a:avLst/>
          </a:prstGeom>
          <a:noFill/>
          <a:ln/>
        </p:spPr>
        <p:txBody>
          <a:bodyPr wrap="square" rtlCol="0" anchor="ctr"/>
          <a:lstStyle/>
          <a:p>
            <a:pPr indent="0" marL="0">
              <a:buNone/>
            </a:pPr>
            <a:r>
              <a:rPr lang="en-US" sz="2200" b="1" dirty="0">
                <a:solidFill>
                  <a:srgbClr val="0D1B2A"/>
                </a:solidFill>
                <a:latin typeface="Calibri" pitchFamily="34" charset="0"/>
                <a:ea typeface="Calibri" pitchFamily="34" charset="-122"/>
                <a:cs typeface="Calibri" pitchFamily="34" charset="-120"/>
              </a:rPr>
              <a:t>50.3%</a:t>
            </a:r>
            <a:endParaRPr lang="en-US" sz="2200" dirty="0"/>
          </a:p>
        </p:txBody>
      </p:sp>
      <p:sp>
        <p:nvSpPr>
          <p:cNvPr id="12" name="Text 10"/>
          <p:cNvSpPr/>
          <p:nvPr/>
        </p:nvSpPr>
        <p:spPr>
          <a:xfrm>
            <a:off x="3200400" y="1901952"/>
            <a:ext cx="2468880" cy="274320"/>
          </a:xfrm>
          <a:prstGeom prst="rect">
            <a:avLst/>
          </a:prstGeom>
          <a:noFill/>
          <a:ln/>
        </p:spPr>
        <p:txBody>
          <a:bodyPr wrap="square" rtlCol="0" anchor="ctr"/>
          <a:lstStyle/>
          <a:p>
            <a:pPr indent="0" marL="0">
              <a:buNone/>
            </a:pPr>
            <a:r>
              <a:rPr lang="en-US" sz="1000" dirty="0">
                <a:solidFill>
                  <a:srgbClr val="8899AA"/>
                </a:solidFill>
                <a:latin typeface="Calibri" pitchFamily="34" charset="0"/>
                <a:ea typeface="Calibri" pitchFamily="34" charset="-122"/>
                <a:cs typeface="Calibri" pitchFamily="34" charset="-120"/>
              </a:rPr>
              <a:t>전이학습 · 224px</a:t>
            </a:r>
            <a:endParaRPr lang="en-US" sz="1000" dirty="0"/>
          </a:p>
        </p:txBody>
      </p:sp>
      <p:sp>
        <p:nvSpPr>
          <p:cNvPr id="13" name="Text 11"/>
          <p:cNvSpPr/>
          <p:nvPr/>
        </p:nvSpPr>
        <p:spPr>
          <a:xfrm>
            <a:off x="5806440" y="1517904"/>
            <a:ext cx="320040" cy="320040"/>
          </a:xfrm>
          <a:prstGeom prst="rect">
            <a:avLst/>
          </a:prstGeom>
          <a:noFill/>
          <a:ln/>
        </p:spPr>
        <p:txBody>
          <a:bodyPr wrap="square" rtlCol="0" anchor="ctr"/>
          <a:lstStyle/>
          <a:p>
            <a:pPr algn="ctr" indent="0" marL="0">
              <a:buNone/>
            </a:pPr>
            <a:r>
              <a:rPr lang="en-US" sz="1500" dirty="0">
                <a:solidFill>
                  <a:srgbClr val="8899AA"/>
                </a:solidFill>
              </a:rPr>
              <a:t>▶</a:t>
            </a:r>
            <a:endParaRPr lang="en-US" sz="1500" dirty="0"/>
          </a:p>
        </p:txBody>
      </p:sp>
      <p:sp>
        <p:nvSpPr>
          <p:cNvPr id="14" name="Shape 12"/>
          <p:cNvSpPr/>
          <p:nvPr/>
        </p:nvSpPr>
        <p:spPr>
          <a:xfrm>
            <a:off x="5943600" y="1097280"/>
            <a:ext cx="2743200" cy="1143000"/>
          </a:xfrm>
          <a:prstGeom prst="roundRect">
            <a:avLst>
              <a:gd name="adj" fmla="val 8000"/>
            </a:avLst>
          </a:prstGeom>
          <a:solidFill>
            <a:srgbClr val="FFFFFF"/>
          </a:solidFill>
          <a:ln w="12700">
            <a:solidFill>
              <a:srgbClr val="D97706"/>
            </a:solidFill>
            <a:prstDash val="solid"/>
          </a:ln>
          <a:effectLst>
            <a:outerShdw sx="100000" sy="100000" kx="0" ky="0" algn="bl" rotWithShape="0" blurRad="101600" dist="38100" dir="2700000">
              <a:srgbClr val="000000">
                <a:alpha val="12000"/>
              </a:srgbClr>
            </a:outerShdw>
          </a:effectLst>
        </p:spPr>
      </p:sp>
      <p:sp>
        <p:nvSpPr>
          <p:cNvPr id="15" name="Text 13"/>
          <p:cNvSpPr/>
          <p:nvPr/>
        </p:nvSpPr>
        <p:spPr>
          <a:xfrm>
            <a:off x="6080760" y="1188720"/>
            <a:ext cx="2468880" cy="310896"/>
          </a:xfrm>
          <a:prstGeom prst="rect">
            <a:avLst/>
          </a:prstGeom>
          <a:noFill/>
          <a:ln/>
        </p:spPr>
        <p:txBody>
          <a:bodyPr wrap="square" rtlCol="0" anchor="ctr"/>
          <a:lstStyle/>
          <a:p>
            <a:pPr indent="0" marL="0">
              <a:buNone/>
            </a:pPr>
            <a:r>
              <a:rPr lang="en-US" sz="1250" b="1" dirty="0">
                <a:solidFill>
                  <a:srgbClr val="D97706"/>
                </a:solidFill>
                <a:latin typeface="Calibri" pitchFamily="34" charset="0"/>
                <a:ea typeface="Calibri" pitchFamily="34" charset="-122"/>
                <a:cs typeface="Calibri" pitchFamily="34" charset="-120"/>
              </a:rPr>
              <a:t>EfficientNetB3 (2단계)</a:t>
            </a:r>
            <a:endParaRPr lang="en-US" sz="1250" dirty="0"/>
          </a:p>
        </p:txBody>
      </p:sp>
      <p:sp>
        <p:nvSpPr>
          <p:cNvPr id="16" name="Text 14"/>
          <p:cNvSpPr/>
          <p:nvPr/>
        </p:nvSpPr>
        <p:spPr>
          <a:xfrm>
            <a:off x="6080760" y="1481328"/>
            <a:ext cx="2468880" cy="384048"/>
          </a:xfrm>
          <a:prstGeom prst="rect">
            <a:avLst/>
          </a:prstGeom>
          <a:noFill/>
          <a:ln/>
        </p:spPr>
        <p:txBody>
          <a:bodyPr wrap="square" rtlCol="0" anchor="ctr"/>
          <a:lstStyle/>
          <a:p>
            <a:pPr indent="0" marL="0">
              <a:buNone/>
            </a:pPr>
            <a:r>
              <a:rPr lang="en-US" sz="2200" b="1" dirty="0">
                <a:solidFill>
                  <a:srgbClr val="0D1B2A"/>
                </a:solidFill>
                <a:latin typeface="Calibri" pitchFamily="34" charset="0"/>
                <a:ea typeface="Calibri" pitchFamily="34" charset="-122"/>
                <a:cs typeface="Calibri" pitchFamily="34" charset="-120"/>
              </a:rPr>
              <a:t>57.6%</a:t>
            </a:r>
            <a:endParaRPr lang="en-US" sz="2200" dirty="0"/>
          </a:p>
        </p:txBody>
      </p:sp>
      <p:sp>
        <p:nvSpPr>
          <p:cNvPr id="17" name="Text 15"/>
          <p:cNvSpPr/>
          <p:nvPr/>
        </p:nvSpPr>
        <p:spPr>
          <a:xfrm>
            <a:off x="6080760" y="1901952"/>
            <a:ext cx="2468880" cy="274320"/>
          </a:xfrm>
          <a:prstGeom prst="rect">
            <a:avLst/>
          </a:prstGeom>
          <a:noFill/>
          <a:ln/>
        </p:spPr>
        <p:txBody>
          <a:bodyPr wrap="square" rtlCol="0" anchor="ctr"/>
          <a:lstStyle/>
          <a:p>
            <a:pPr indent="0" marL="0">
              <a:buNone/>
            </a:pPr>
            <a:r>
              <a:rPr lang="en-US" sz="1000" dirty="0">
                <a:solidFill>
                  <a:srgbClr val="8899AA"/>
                </a:solidFill>
                <a:latin typeface="Calibri" pitchFamily="34" charset="0"/>
                <a:ea typeface="Calibri" pitchFamily="34" charset="-122"/>
                <a:cs typeface="Calibri" pitchFamily="34" charset="-120"/>
              </a:rPr>
              <a:t>fine-tuning · 최종·서비스 연결</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2423160"/>
          <a:ext cx="8503920" cy="914400"/>
        </p:xfrm>
        <a:graphic>
          <a:graphicData uri="http://schemas.openxmlformats.org/drawingml/2006/table">
            <a:tbl>
              <a:tblPr/>
              <a:tblGrid>
                <a:gridCol w="1737360"/>
                <a:gridCol w="6766560"/>
              </a:tblGrid>
              <a:tr h="38404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항목</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0D1B2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설계</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0D1B2A"/>
                    </a:solidFill>
                  </a:tcPr>
                </a:tc>
              </a:tr>
              <a:tr h="384048">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문제 유형</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이미지 다중 분류 (7개 병변 / 정상)</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모델</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EfficientNetB3 전이학습 — Phase1 백본 고정(헤드 학습) → Phase2 fine-tuning</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입력 / 전처리</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224×224, EfficientNet 정규화(0~255 그대로 입력)</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평가 지표</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Accuracy · Precision · Recall · F1 · Confusion Matrix</a:t>
                      </a:r>
                      <a:endParaRPr lang="en-US" sz="1150" dirty="0">
                        <a:latin typeface="Calibri" charset="0"/>
                        <a:ea typeface="Calibri" charset="0"/>
                        <a:cs typeface="Calibri"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bl>
          </a:graphicData>
        </a:graphic>
      </p:graphicFrame>
      <p:sp>
        <p:nvSpPr>
          <p:cNvPr id="19" name="Shape 16"/>
          <p:cNvSpPr/>
          <p:nvPr/>
        </p:nvSpPr>
        <p:spPr>
          <a:xfrm>
            <a:off x="274320" y="4434840"/>
            <a:ext cx="8595360" cy="548640"/>
          </a:xfrm>
          <a:prstGeom prst="roundRect">
            <a:avLst>
              <a:gd name="adj" fmla="val 13333"/>
            </a:avLst>
          </a:prstGeom>
          <a:solidFill>
            <a:srgbClr val="0D1B2A"/>
          </a:solidFill>
          <a:ln w="12700">
            <a:solidFill>
              <a:srgbClr val="0D1B2A"/>
            </a:solidFill>
            <a:prstDash val="solid"/>
          </a:ln>
        </p:spPr>
      </p:sp>
      <p:sp>
        <p:nvSpPr>
          <p:cNvPr id="20" name="Text 17"/>
          <p:cNvSpPr/>
          <p:nvPr/>
        </p:nvSpPr>
        <p:spPr>
          <a:xfrm>
            <a:off x="411480" y="4434840"/>
            <a:ext cx="8321040" cy="548640"/>
          </a:xfrm>
          <a:prstGeom prst="rect">
            <a:avLst/>
          </a:prstGeom>
          <a:noFill/>
          <a:ln/>
        </p:spPr>
        <p:txBody>
          <a:bodyPr wrap="square" rtlCol="0" anchor="ctr"/>
          <a:lstStyle/>
          <a:p>
            <a:pPr algn="l" indent="0" marL="0">
              <a:buNone/>
            </a:pPr>
            <a:r>
              <a:rPr lang="en-US" sz="1200" b="1" dirty="0">
                <a:solidFill>
                  <a:srgbClr val="F5A623"/>
                </a:solidFill>
                <a:latin typeface="Calibri" pitchFamily="34" charset="0"/>
                <a:ea typeface="Calibri" pitchFamily="34" charset="-122"/>
                <a:cs typeface="Calibri" pitchFamily="34" charset="-120"/>
              </a:rPr>
              <a:t>결론  정확도만이 아니라 '어떤 병변을 놓치는지' 보려고 클래스별 지표·CM을 함께 봤습니다.</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Text 1"/>
          <p:cNvSpPr/>
          <p:nvPr/>
        </p:nvSpPr>
        <p:spPr>
          <a:xfrm>
            <a:off x="365760" y="73152"/>
            <a:ext cx="8412480" cy="768096"/>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결과는 어땠고, 어떻게 해석하는가?</a:t>
            </a:r>
            <a:endParaRPr lang="en-US" sz="2500" dirty="0"/>
          </a:p>
        </p:txBody>
      </p:sp>
      <p:pic>
        <p:nvPicPr>
          <p:cNvPr id="4" name="Image 0" descr="C:/Users/금정산2-PC02/SAG_project/outputs/figures/eval_confusion_matrix.png">    </p:cNvPr>
          <p:cNvPicPr>
            <a:picLocks noChangeAspect="1"/>
          </p:cNvPicPr>
          <p:nvPr/>
        </p:nvPicPr>
        <p:blipFill>
          <a:blip r:embed="rId1"/>
          <a:stretch>
            <a:fillRect/>
          </a:stretch>
        </p:blipFill>
        <p:spPr>
          <a:xfrm>
            <a:off x="320040" y="1051560"/>
            <a:ext cx="3063240" cy="2706624"/>
          </a:xfrm>
          <a:prstGeom prst="rect">
            <a:avLst/>
          </a:prstGeom>
        </p:spPr>
      </p:pic>
      <p:sp>
        <p:nvSpPr>
          <p:cNvPr id="5" name="Text 2"/>
          <p:cNvSpPr/>
          <p:nvPr/>
        </p:nvSpPr>
        <p:spPr>
          <a:xfrm>
            <a:off x="320040" y="3730752"/>
            <a:ext cx="3063240" cy="228600"/>
          </a:xfrm>
          <a:prstGeom prst="rect">
            <a:avLst/>
          </a:prstGeom>
          <a:noFill/>
          <a:ln/>
        </p:spPr>
        <p:txBody>
          <a:bodyPr wrap="square" rtlCol="0" anchor="ctr"/>
          <a:lstStyle/>
          <a:p>
            <a:pPr algn="ctr" indent="0" marL="0">
              <a:buNone/>
            </a:pPr>
            <a:r>
              <a:rPr lang="en-US" sz="950" dirty="0">
                <a:solidFill>
                  <a:srgbClr val="8899AA"/>
                </a:solidFill>
                <a:latin typeface="Calibri" pitchFamily="34" charset="0"/>
                <a:ea typeface="Calibri" pitchFamily="34" charset="-122"/>
                <a:cs typeface="Calibri" pitchFamily="34" charset="-120"/>
              </a:rPr>
              <a:t>테스트셋 5,246장 · EfficientNetB3</a:t>
            </a:r>
            <a:endParaRPr lang="en-US" sz="950" dirty="0"/>
          </a:p>
        </p:txBody>
      </p:sp>
      <p:sp>
        <p:nvSpPr>
          <p:cNvPr id="6" name="Shape 3"/>
          <p:cNvSpPr/>
          <p:nvPr/>
        </p:nvSpPr>
        <p:spPr>
          <a:xfrm>
            <a:off x="3611880" y="1051560"/>
            <a:ext cx="2560320" cy="676656"/>
          </a:xfrm>
          <a:prstGeom prst="roundRect">
            <a:avLst>
              <a:gd name="adj" fmla="val 10811"/>
            </a:avLst>
          </a:prstGeom>
          <a:solidFill>
            <a:srgbClr val="0D1B2A"/>
          </a:solidFill>
          <a:ln w="12700">
            <a:solidFill>
              <a:srgbClr val="0D1B2A"/>
            </a:solidFill>
            <a:prstDash val="solid"/>
          </a:ln>
        </p:spPr>
      </p:sp>
      <p:sp>
        <p:nvSpPr>
          <p:cNvPr id="7" name="Text 4"/>
          <p:cNvSpPr/>
          <p:nvPr/>
        </p:nvSpPr>
        <p:spPr>
          <a:xfrm>
            <a:off x="3703320" y="1097280"/>
            <a:ext cx="2377440" cy="384048"/>
          </a:xfrm>
          <a:prstGeom prst="rect">
            <a:avLst/>
          </a:prstGeom>
          <a:noFill/>
          <a:ln/>
        </p:spPr>
        <p:txBody>
          <a:bodyPr wrap="square" rtlCol="0" anchor="ctr"/>
          <a:lstStyle/>
          <a:p>
            <a:pPr indent="0" marL="0">
              <a:buNone/>
            </a:pPr>
            <a:r>
              <a:rPr lang="en-US" sz="1700" b="1" dirty="0">
                <a:solidFill>
                  <a:srgbClr val="F5A623"/>
                </a:solidFill>
                <a:latin typeface="Calibri" pitchFamily="34" charset="0"/>
                <a:ea typeface="Calibri" pitchFamily="34" charset="-122"/>
                <a:cs typeface="Calibri" pitchFamily="34" charset="-120"/>
              </a:rPr>
              <a:t>57.6%</a:t>
            </a:r>
            <a:endParaRPr lang="en-US" sz="1700" dirty="0"/>
          </a:p>
        </p:txBody>
      </p:sp>
      <p:sp>
        <p:nvSpPr>
          <p:cNvPr id="8" name="Text 5"/>
          <p:cNvSpPr/>
          <p:nvPr/>
        </p:nvSpPr>
        <p:spPr>
          <a:xfrm>
            <a:off x="3703320" y="1472184"/>
            <a:ext cx="2377440" cy="219456"/>
          </a:xfrm>
          <a:prstGeom prst="rect">
            <a:avLst/>
          </a:prstGeom>
          <a:noFill/>
          <a:ln/>
        </p:spPr>
        <p:txBody>
          <a:bodyPr wrap="square" rtlCol="0" anchor="ctr"/>
          <a:lstStyle/>
          <a:p>
            <a:pPr indent="0" marL="0">
              <a:buNone/>
            </a:pPr>
            <a:r>
              <a:rPr lang="en-US" sz="950" dirty="0">
                <a:solidFill>
                  <a:srgbClr val="9FB3C8"/>
                </a:solidFill>
                <a:latin typeface="Calibri" pitchFamily="34" charset="0"/>
                <a:ea typeface="Calibri" pitchFamily="34" charset="-122"/>
                <a:cs typeface="Calibri" pitchFamily="34" charset="-120"/>
              </a:rPr>
              <a:t>Accuracy</a:t>
            </a:r>
            <a:endParaRPr lang="en-US" sz="950" dirty="0"/>
          </a:p>
        </p:txBody>
      </p:sp>
      <p:sp>
        <p:nvSpPr>
          <p:cNvPr id="9" name="Shape 6"/>
          <p:cNvSpPr/>
          <p:nvPr/>
        </p:nvSpPr>
        <p:spPr>
          <a:xfrm>
            <a:off x="6309360" y="1051560"/>
            <a:ext cx="2560320" cy="676656"/>
          </a:xfrm>
          <a:prstGeom prst="roundRect">
            <a:avLst>
              <a:gd name="adj" fmla="val 10811"/>
            </a:avLst>
          </a:prstGeom>
          <a:solidFill>
            <a:srgbClr val="0D1B2A"/>
          </a:solidFill>
          <a:ln w="12700">
            <a:solidFill>
              <a:srgbClr val="0D1B2A"/>
            </a:solidFill>
            <a:prstDash val="solid"/>
          </a:ln>
        </p:spPr>
      </p:sp>
      <p:sp>
        <p:nvSpPr>
          <p:cNvPr id="10" name="Text 7"/>
          <p:cNvSpPr/>
          <p:nvPr/>
        </p:nvSpPr>
        <p:spPr>
          <a:xfrm>
            <a:off x="6400800" y="1097280"/>
            <a:ext cx="2377440" cy="384048"/>
          </a:xfrm>
          <a:prstGeom prst="rect">
            <a:avLst/>
          </a:prstGeom>
          <a:noFill/>
          <a:ln/>
        </p:spPr>
        <p:txBody>
          <a:bodyPr wrap="square" rtlCol="0" anchor="ctr"/>
          <a:lstStyle/>
          <a:p>
            <a:pPr indent="0" marL="0">
              <a:buNone/>
            </a:pPr>
            <a:r>
              <a:rPr lang="en-US" sz="1700" b="1" dirty="0">
                <a:solidFill>
                  <a:srgbClr val="F5A623"/>
                </a:solidFill>
                <a:latin typeface="Calibri" pitchFamily="34" charset="0"/>
                <a:ea typeface="Calibri" pitchFamily="34" charset="-122"/>
                <a:cs typeface="Calibri" pitchFamily="34" charset="-120"/>
              </a:rPr>
              <a:t>0.571</a:t>
            </a:r>
            <a:endParaRPr lang="en-US" sz="1700" dirty="0"/>
          </a:p>
        </p:txBody>
      </p:sp>
      <p:sp>
        <p:nvSpPr>
          <p:cNvPr id="11" name="Text 8"/>
          <p:cNvSpPr/>
          <p:nvPr/>
        </p:nvSpPr>
        <p:spPr>
          <a:xfrm>
            <a:off x="6400800" y="1472184"/>
            <a:ext cx="2377440" cy="219456"/>
          </a:xfrm>
          <a:prstGeom prst="rect">
            <a:avLst/>
          </a:prstGeom>
          <a:noFill/>
          <a:ln/>
        </p:spPr>
        <p:txBody>
          <a:bodyPr wrap="square" rtlCol="0" anchor="ctr"/>
          <a:lstStyle/>
          <a:p>
            <a:pPr indent="0" marL="0">
              <a:buNone/>
            </a:pPr>
            <a:r>
              <a:rPr lang="en-US" sz="950" dirty="0">
                <a:solidFill>
                  <a:srgbClr val="9FB3C8"/>
                </a:solidFill>
                <a:latin typeface="Calibri" pitchFamily="34" charset="0"/>
                <a:ea typeface="Calibri" pitchFamily="34" charset="-122"/>
                <a:cs typeface="Calibri" pitchFamily="34" charset="-120"/>
              </a:rPr>
              <a:t>F1 (macro)</a:t>
            </a:r>
            <a:endParaRPr lang="en-US" sz="950" dirty="0"/>
          </a:p>
        </p:txBody>
      </p:sp>
      <p:sp>
        <p:nvSpPr>
          <p:cNvPr id="12" name="Shape 9"/>
          <p:cNvSpPr/>
          <p:nvPr/>
        </p:nvSpPr>
        <p:spPr>
          <a:xfrm>
            <a:off x="3611880" y="1837944"/>
            <a:ext cx="2560320" cy="676656"/>
          </a:xfrm>
          <a:prstGeom prst="roundRect">
            <a:avLst>
              <a:gd name="adj" fmla="val 10811"/>
            </a:avLst>
          </a:prstGeom>
          <a:solidFill>
            <a:srgbClr val="0D1B2A"/>
          </a:solidFill>
          <a:ln w="12700">
            <a:solidFill>
              <a:srgbClr val="0D1B2A"/>
            </a:solidFill>
            <a:prstDash val="solid"/>
          </a:ln>
        </p:spPr>
      </p:sp>
      <p:sp>
        <p:nvSpPr>
          <p:cNvPr id="13" name="Text 10"/>
          <p:cNvSpPr/>
          <p:nvPr/>
        </p:nvSpPr>
        <p:spPr>
          <a:xfrm>
            <a:off x="3703320" y="1883664"/>
            <a:ext cx="2377440" cy="384048"/>
          </a:xfrm>
          <a:prstGeom prst="rect">
            <a:avLst/>
          </a:prstGeom>
          <a:noFill/>
          <a:ln/>
        </p:spPr>
        <p:txBody>
          <a:bodyPr wrap="square" rtlCol="0" anchor="ctr"/>
          <a:lstStyle/>
          <a:p>
            <a:pPr indent="0" marL="0">
              <a:buNone/>
            </a:pPr>
            <a:r>
              <a:rPr lang="en-US" sz="1700" b="1" dirty="0">
                <a:solidFill>
                  <a:srgbClr val="F5A623"/>
                </a:solidFill>
                <a:latin typeface="Calibri" pitchFamily="34" charset="0"/>
                <a:ea typeface="Calibri" pitchFamily="34" charset="-122"/>
                <a:cs typeface="Calibri" pitchFamily="34" charset="-120"/>
              </a:rPr>
              <a:t>85.4%</a:t>
            </a:r>
            <a:endParaRPr lang="en-US" sz="1700" dirty="0"/>
          </a:p>
        </p:txBody>
      </p:sp>
      <p:sp>
        <p:nvSpPr>
          <p:cNvPr id="14" name="Text 11"/>
          <p:cNvSpPr/>
          <p:nvPr/>
        </p:nvSpPr>
        <p:spPr>
          <a:xfrm>
            <a:off x="3703320" y="2258568"/>
            <a:ext cx="2377440" cy="219456"/>
          </a:xfrm>
          <a:prstGeom prst="rect">
            <a:avLst/>
          </a:prstGeom>
          <a:noFill/>
          <a:ln/>
        </p:spPr>
        <p:txBody>
          <a:bodyPr wrap="square" rtlCol="0" anchor="ctr"/>
          <a:lstStyle/>
          <a:p>
            <a:pPr indent="0" marL="0">
              <a:buNone/>
            </a:pPr>
            <a:r>
              <a:rPr lang="en-US" sz="950" dirty="0">
                <a:solidFill>
                  <a:srgbClr val="9FB3C8"/>
                </a:solidFill>
                <a:latin typeface="Calibri" pitchFamily="34" charset="0"/>
                <a:ea typeface="Calibri" pitchFamily="34" charset="-122"/>
                <a:cs typeface="Calibri" pitchFamily="34" charset="-120"/>
              </a:rPr>
              <a:t>Top-3 정확도</a:t>
            </a:r>
            <a:endParaRPr lang="en-US" sz="950" dirty="0"/>
          </a:p>
        </p:txBody>
      </p:sp>
      <p:sp>
        <p:nvSpPr>
          <p:cNvPr id="15" name="Shape 12"/>
          <p:cNvSpPr/>
          <p:nvPr/>
        </p:nvSpPr>
        <p:spPr>
          <a:xfrm>
            <a:off x="6309360" y="1837944"/>
            <a:ext cx="2560320" cy="676656"/>
          </a:xfrm>
          <a:prstGeom prst="roundRect">
            <a:avLst>
              <a:gd name="adj" fmla="val 10811"/>
            </a:avLst>
          </a:prstGeom>
          <a:solidFill>
            <a:srgbClr val="0D1B2A"/>
          </a:solidFill>
          <a:ln w="12700">
            <a:solidFill>
              <a:srgbClr val="0D1B2A"/>
            </a:solidFill>
            <a:prstDash val="solid"/>
          </a:ln>
        </p:spPr>
      </p:sp>
      <p:sp>
        <p:nvSpPr>
          <p:cNvPr id="16" name="Text 13"/>
          <p:cNvSpPr/>
          <p:nvPr/>
        </p:nvSpPr>
        <p:spPr>
          <a:xfrm>
            <a:off x="6400800" y="1883664"/>
            <a:ext cx="2377440" cy="384048"/>
          </a:xfrm>
          <a:prstGeom prst="rect">
            <a:avLst/>
          </a:prstGeom>
          <a:noFill/>
          <a:ln/>
        </p:spPr>
        <p:txBody>
          <a:bodyPr wrap="square" rtlCol="0" anchor="ctr"/>
          <a:lstStyle/>
          <a:p>
            <a:pPr indent="0" marL="0">
              <a:buNone/>
            </a:pPr>
            <a:r>
              <a:rPr lang="en-US" sz="1700" b="1" dirty="0">
                <a:solidFill>
                  <a:srgbClr val="F5A623"/>
                </a:solidFill>
                <a:latin typeface="Calibri" pitchFamily="34" charset="0"/>
                <a:ea typeface="Calibri" pitchFamily="34" charset="-122"/>
                <a:cs typeface="Calibri" pitchFamily="34" charset="-120"/>
              </a:rPr>
              <a:t>67.7% &gt; 56.2%</a:t>
            </a:r>
            <a:endParaRPr lang="en-US" sz="1700" dirty="0"/>
          </a:p>
        </p:txBody>
      </p:sp>
      <p:sp>
        <p:nvSpPr>
          <p:cNvPr id="17" name="Text 14"/>
          <p:cNvSpPr/>
          <p:nvPr/>
        </p:nvSpPr>
        <p:spPr>
          <a:xfrm>
            <a:off x="6400800" y="2258568"/>
            <a:ext cx="2377440" cy="219456"/>
          </a:xfrm>
          <a:prstGeom prst="rect">
            <a:avLst/>
          </a:prstGeom>
          <a:noFill/>
          <a:ln/>
        </p:spPr>
        <p:txBody>
          <a:bodyPr wrap="square" rtlCol="0" anchor="ctr"/>
          <a:lstStyle/>
          <a:p>
            <a:pPr indent="0" marL="0">
              <a:buNone/>
            </a:pPr>
            <a:r>
              <a:rPr lang="en-US" sz="950" dirty="0">
                <a:solidFill>
                  <a:srgbClr val="9FB3C8"/>
                </a:solidFill>
                <a:latin typeface="Calibri" pitchFamily="34" charset="0"/>
                <a:ea typeface="Calibri" pitchFamily="34" charset="-122"/>
                <a:cs typeface="Calibri" pitchFamily="34" charset="-120"/>
              </a:rPr>
              <a:t>고양이 &gt; 강아지</a:t>
            </a:r>
            <a:endParaRPr lang="en-US" sz="950" dirty="0"/>
          </a:p>
        </p:txBody>
      </p:sp>
      <p:sp>
        <p:nvSpPr>
          <p:cNvPr id="18" name="Shape 15"/>
          <p:cNvSpPr/>
          <p:nvPr/>
        </p:nvSpPr>
        <p:spPr>
          <a:xfrm>
            <a:off x="3611880" y="2697480"/>
            <a:ext cx="5257800" cy="1627632"/>
          </a:xfrm>
          <a:prstGeom prst="roundRect">
            <a:avLst>
              <a:gd name="adj" fmla="val 5618"/>
            </a:avLst>
          </a:prstGeom>
          <a:solidFill>
            <a:srgbClr val="FFFFFF"/>
          </a:solidFill>
          <a:ln w="12700">
            <a:solidFill>
              <a:srgbClr val="D0D8E4"/>
            </a:solidFill>
            <a:prstDash val="solid"/>
          </a:ln>
          <a:effectLst>
            <a:outerShdw sx="100000" sy="100000" kx="0" ky="0" algn="bl" rotWithShape="0" blurRad="101600" dist="38100" dir="2700000">
              <a:srgbClr val="000000">
                <a:alpha val="12000"/>
              </a:srgbClr>
            </a:outerShdw>
          </a:effectLst>
        </p:spPr>
      </p:sp>
      <p:sp>
        <p:nvSpPr>
          <p:cNvPr id="19" name="Text 16"/>
          <p:cNvSpPr/>
          <p:nvPr/>
        </p:nvSpPr>
        <p:spPr>
          <a:xfrm>
            <a:off x="3749040" y="2761488"/>
            <a:ext cx="4572000" cy="274320"/>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해석</a:t>
            </a:r>
            <a:endParaRPr lang="en-US" sz="1200" dirty="0"/>
          </a:p>
        </p:txBody>
      </p:sp>
      <p:sp>
        <p:nvSpPr>
          <p:cNvPr id="20" name="Text 17"/>
          <p:cNvSpPr/>
          <p:nvPr/>
        </p:nvSpPr>
        <p:spPr>
          <a:xfrm>
            <a:off x="3749040" y="3054096"/>
            <a:ext cx="4983480" cy="1234440"/>
          </a:xfrm>
          <a:prstGeom prst="rect">
            <a:avLst/>
          </a:prstGeom>
          <a:noFill/>
          <a:ln/>
        </p:spPr>
        <p:txBody>
          <a:bodyPr wrap="square" rtlCol="0" anchor="ctr"/>
          <a:lstStyle/>
          <a:p>
            <a:pPr indent="0" marL="0">
              <a:lnSpc>
                <a:spcPct val="112000"/>
              </a:lnSpc>
              <a:buNone/>
            </a:pPr>
            <a:r>
              <a:rPr lang="en-US" sz="1050" dirty="0">
                <a:solidFill>
                  <a:srgbClr val="334155"/>
                </a:solidFill>
                <a:latin typeface="Calibri" pitchFamily="34" charset="0"/>
                <a:ea typeface="Calibri" pitchFamily="34" charset="-122"/>
                <a:cs typeface="Calibri" pitchFamily="34" charset="-120"/>
              </a:rPr>
              <a:t>• 잘 분류: A5 미란/궤양(F1 0.74), A6 결절/종괴(0.72) — 외형이 뚜렷</a:t>
            </a:r>
            <a:endParaRPr lang="en-US" sz="1050" dirty="0"/>
          </a:p>
          <a:p>
            <a:pPr indent="0" marL="0">
              <a:lnSpc>
                <a:spcPct val="112000"/>
              </a:lnSpc>
              <a:buNone/>
            </a:pPr>
            <a:r>
              <a:rPr lang="en-US" sz="1050" dirty="0">
                <a:solidFill>
                  <a:srgbClr val="334155"/>
                </a:solidFill>
                <a:latin typeface="Calibri" pitchFamily="34" charset="0"/>
                <a:ea typeface="Calibri" pitchFamily="34" charset="-122"/>
                <a:cs typeface="Calibri" pitchFamily="34" charset="-120"/>
              </a:rPr>
              <a:t>• 가장 약함: A2 비듬/각질(0.44) — 여러 클래스가 A2로 오인됨</a:t>
            </a:r>
            <a:endParaRPr lang="en-US" sz="1050" dirty="0"/>
          </a:p>
          <a:p>
            <a:pPr indent="0" marL="0">
              <a:lnSpc>
                <a:spcPct val="112000"/>
              </a:lnSpc>
              <a:buNone/>
            </a:pPr>
            <a:r>
              <a:rPr lang="en-US" sz="1050" dirty="0">
                <a:solidFill>
                  <a:srgbClr val="334155"/>
                </a:solidFill>
                <a:latin typeface="Calibri" pitchFamily="34" charset="0"/>
                <a:ea typeface="Calibri" pitchFamily="34" charset="-122"/>
                <a:cs typeface="Calibri" pitchFamily="34" charset="-120"/>
              </a:rPr>
              <a:t>• 최다 혼동: A2 ↔ A3(태선화) — 실제 A3의 21%를 A2로 예측</a:t>
            </a:r>
            <a:endParaRPr lang="en-US" sz="1050" dirty="0"/>
          </a:p>
          <a:p>
            <a:pPr indent="0" marL="0">
              <a:lnSpc>
                <a:spcPct val="112000"/>
              </a:lnSpc>
              <a:buNone/>
            </a:pPr>
            <a:r>
              <a:rPr lang="en-US" sz="1050" dirty="0">
                <a:solidFill>
                  <a:srgbClr val="334155"/>
                </a:solidFill>
                <a:latin typeface="Calibri" pitchFamily="34" charset="0"/>
                <a:ea typeface="Calibri" pitchFamily="34" charset="-122"/>
                <a:cs typeface="Calibri" pitchFamily="34" charset="-120"/>
              </a:rPr>
              <a:t>• A7 정상은 재현율이 낮음 → '이상' 쪽으로 보수적 (선별엔 안전)</a:t>
            </a:r>
            <a:endParaRPr lang="en-US" sz="1050" dirty="0"/>
          </a:p>
        </p:txBody>
      </p:sp>
      <p:sp>
        <p:nvSpPr>
          <p:cNvPr id="21" name="Shape 18"/>
          <p:cNvSpPr/>
          <p:nvPr/>
        </p:nvSpPr>
        <p:spPr>
          <a:xfrm>
            <a:off x="274320" y="4434840"/>
            <a:ext cx="8595360" cy="548640"/>
          </a:xfrm>
          <a:prstGeom prst="roundRect">
            <a:avLst>
              <a:gd name="adj" fmla="val 13333"/>
            </a:avLst>
          </a:prstGeom>
          <a:solidFill>
            <a:srgbClr val="0D1B2A"/>
          </a:solidFill>
          <a:ln w="12700">
            <a:solidFill>
              <a:srgbClr val="0D1B2A"/>
            </a:solidFill>
            <a:prstDash val="solid"/>
          </a:ln>
        </p:spPr>
      </p:sp>
      <p:sp>
        <p:nvSpPr>
          <p:cNvPr id="22" name="Text 19"/>
          <p:cNvSpPr/>
          <p:nvPr/>
        </p:nvSpPr>
        <p:spPr>
          <a:xfrm>
            <a:off x="411480" y="4434840"/>
            <a:ext cx="8321040" cy="548640"/>
          </a:xfrm>
          <a:prstGeom prst="rect">
            <a:avLst/>
          </a:prstGeom>
          <a:noFill/>
          <a:ln/>
        </p:spPr>
        <p:txBody>
          <a:bodyPr wrap="square" rtlCol="0" anchor="ctr"/>
          <a:lstStyle/>
          <a:p>
            <a:pPr algn="l" indent="0" marL="0">
              <a:buNone/>
            </a:pPr>
            <a:r>
              <a:rPr lang="en-US" sz="1200" b="1" dirty="0">
                <a:solidFill>
                  <a:srgbClr val="F5A623"/>
                </a:solidFill>
                <a:latin typeface="Calibri" pitchFamily="34" charset="0"/>
                <a:ea typeface="Calibri" pitchFamily="34" charset="-122"/>
                <a:cs typeface="Calibri" pitchFamily="34" charset="-120"/>
              </a:rPr>
              <a:t>결론  57.6%는 가능성을 보였지만 A2↔A3 혼동은 적용 전 개선 필요 → 낮은 신뢰도 클래스는 보수적 안내.</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Text 1"/>
          <p:cNvSpPr/>
          <p:nvPr/>
        </p:nvSpPr>
        <p:spPr>
          <a:xfrm>
            <a:off x="365760" y="73152"/>
            <a:ext cx="8412480" cy="548640"/>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실제로 어떻게 작동하는가?</a:t>
            </a:r>
            <a:endParaRPr lang="en-US" sz="2500" dirty="0"/>
          </a:p>
        </p:txBody>
      </p:sp>
      <p:sp>
        <p:nvSpPr>
          <p:cNvPr id="4" name="Text 2"/>
          <p:cNvSpPr/>
          <p:nvPr/>
        </p:nvSpPr>
        <p:spPr>
          <a:xfrm>
            <a:off x="384048" y="566928"/>
            <a:ext cx="8412480" cy="292608"/>
          </a:xfrm>
          <a:prstGeom prst="rect">
            <a:avLst/>
          </a:prstGeom>
          <a:noFill/>
          <a:ln/>
        </p:spPr>
        <p:txBody>
          <a:bodyPr wrap="square" rtlCol="0" anchor="ctr"/>
          <a:lstStyle/>
          <a:p>
            <a:pPr indent="0" marL="0">
              <a:buNone/>
            </a:pPr>
            <a:r>
              <a:rPr lang="en-US" sz="1100" dirty="0">
                <a:solidFill>
                  <a:srgbClr val="9FB3C8"/>
                </a:solidFill>
                <a:latin typeface="Calibri" pitchFamily="34" charset="0"/>
                <a:ea typeface="Calibri" pitchFamily="34" charset="-122"/>
                <a:cs typeface="Calibri" pitchFamily="34" charset="-120"/>
              </a:rPr>
              <a:t>Streamlit 서비스 · sagproject.streamlit.app</a:t>
            </a:r>
            <a:endParaRPr lang="en-US" sz="1100" dirty="0"/>
          </a:p>
        </p:txBody>
      </p:sp>
      <p:sp>
        <p:nvSpPr>
          <p:cNvPr id="5" name="Shape 3"/>
          <p:cNvSpPr/>
          <p:nvPr/>
        </p:nvSpPr>
        <p:spPr>
          <a:xfrm>
            <a:off x="365760" y="1097280"/>
            <a:ext cx="1627632" cy="640080"/>
          </a:xfrm>
          <a:prstGeom prst="roundRect">
            <a:avLst>
              <a:gd name="adj" fmla="val 11429"/>
            </a:avLst>
          </a:prstGeom>
          <a:solidFill>
            <a:srgbClr val="F5A623"/>
          </a:solidFill>
          <a:ln w="12700">
            <a:solidFill>
              <a:srgbClr val="F5A623"/>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411480" y="1097280"/>
            <a:ext cx="1536192" cy="640080"/>
          </a:xfrm>
          <a:prstGeom prst="rect">
            <a:avLst/>
          </a:prstGeom>
          <a:noFill/>
          <a:ln/>
        </p:spPr>
        <p:txBody>
          <a:bodyPr wrap="square" rtlCol="0" anchor="ctr"/>
          <a:lstStyle/>
          <a:p>
            <a:pPr algn="ctr" indent="0" marL="0">
              <a:buNone/>
            </a:pPr>
            <a:r>
              <a:rPr lang="en-US" sz="950" b="1" dirty="0">
                <a:solidFill>
                  <a:srgbClr val="0D1B2A"/>
                </a:solidFill>
                <a:latin typeface="Calibri" pitchFamily="34" charset="0"/>
                <a:ea typeface="Calibri" pitchFamily="34" charset="-122"/>
                <a:cs typeface="Calibri" pitchFamily="34" charset="-120"/>
              </a:rPr>
              <a:t>① 업로드 / 샘플 선택</a:t>
            </a:r>
            <a:endParaRPr lang="en-US" sz="950" dirty="0"/>
          </a:p>
        </p:txBody>
      </p:sp>
      <p:sp>
        <p:nvSpPr>
          <p:cNvPr id="7" name="Shape 5"/>
          <p:cNvSpPr/>
          <p:nvPr/>
        </p:nvSpPr>
        <p:spPr>
          <a:xfrm>
            <a:off x="2103120" y="1097280"/>
            <a:ext cx="1627632" cy="640080"/>
          </a:xfrm>
          <a:prstGeom prst="roundRect">
            <a:avLst>
              <a:gd name="adj" fmla="val 11429"/>
            </a:avLst>
          </a:prstGeom>
          <a:solidFill>
            <a:srgbClr val="FFFFFF"/>
          </a:solidFill>
          <a:ln w="12700">
            <a:solidFill>
              <a:srgbClr val="D0D8E4"/>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2148840" y="1097280"/>
            <a:ext cx="1536192" cy="640080"/>
          </a:xfrm>
          <a:prstGeom prst="rect">
            <a:avLst/>
          </a:prstGeom>
          <a:noFill/>
          <a:ln/>
        </p:spPr>
        <p:txBody>
          <a:bodyPr wrap="square" rtlCol="0" anchor="ctr"/>
          <a:lstStyle/>
          <a:p>
            <a:pPr algn="ctr" indent="0" marL="0">
              <a:buNone/>
            </a:pPr>
            <a:r>
              <a:rPr lang="en-US" sz="950" b="1" dirty="0">
                <a:solidFill>
                  <a:srgbClr val="334155"/>
                </a:solidFill>
                <a:latin typeface="Calibri" pitchFamily="34" charset="0"/>
                <a:ea typeface="Calibri" pitchFamily="34" charset="-122"/>
                <a:cs typeface="Calibri" pitchFamily="34" charset="-120"/>
              </a:rPr>
              <a:t>② AI 예측 (7클래스 확률)</a:t>
            </a:r>
            <a:endParaRPr lang="en-US" sz="950" dirty="0"/>
          </a:p>
        </p:txBody>
      </p:sp>
      <p:sp>
        <p:nvSpPr>
          <p:cNvPr id="9" name="Shape 7"/>
          <p:cNvSpPr/>
          <p:nvPr/>
        </p:nvSpPr>
        <p:spPr>
          <a:xfrm>
            <a:off x="3840480" y="1097280"/>
            <a:ext cx="1627632" cy="640080"/>
          </a:xfrm>
          <a:prstGeom prst="roundRect">
            <a:avLst>
              <a:gd name="adj" fmla="val 11429"/>
            </a:avLst>
          </a:prstGeom>
          <a:solidFill>
            <a:srgbClr val="FFFFFF"/>
          </a:solidFill>
          <a:ln w="12700">
            <a:solidFill>
              <a:srgbClr val="D0D8E4"/>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3886200" y="1097280"/>
            <a:ext cx="1536192" cy="640080"/>
          </a:xfrm>
          <a:prstGeom prst="rect">
            <a:avLst/>
          </a:prstGeom>
          <a:noFill/>
          <a:ln/>
        </p:spPr>
        <p:txBody>
          <a:bodyPr wrap="square" rtlCol="0" anchor="ctr"/>
          <a:lstStyle/>
          <a:p>
            <a:pPr algn="ctr" indent="0" marL="0">
              <a:buNone/>
            </a:pPr>
            <a:r>
              <a:rPr lang="en-US" sz="950" b="1" dirty="0">
                <a:solidFill>
                  <a:srgbClr val="334155"/>
                </a:solidFill>
                <a:latin typeface="Calibri" pitchFamily="34" charset="0"/>
                <a:ea typeface="Calibri" pitchFamily="34" charset="-122"/>
                <a:cs typeface="Calibri" pitchFamily="34" charset="-120"/>
              </a:rPr>
              <a:t>③ 위험도 4단계</a:t>
            </a:r>
            <a:endParaRPr lang="en-US" sz="950" dirty="0"/>
          </a:p>
        </p:txBody>
      </p:sp>
      <p:sp>
        <p:nvSpPr>
          <p:cNvPr id="11" name="Shape 9"/>
          <p:cNvSpPr/>
          <p:nvPr/>
        </p:nvSpPr>
        <p:spPr>
          <a:xfrm>
            <a:off x="5577840" y="1097280"/>
            <a:ext cx="1627632" cy="640080"/>
          </a:xfrm>
          <a:prstGeom prst="roundRect">
            <a:avLst>
              <a:gd name="adj" fmla="val 11429"/>
            </a:avLst>
          </a:prstGeom>
          <a:solidFill>
            <a:srgbClr val="FFFFFF"/>
          </a:solidFill>
          <a:ln w="12700">
            <a:solidFill>
              <a:srgbClr val="D0D8E4"/>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5623560" y="1097280"/>
            <a:ext cx="1536192" cy="640080"/>
          </a:xfrm>
          <a:prstGeom prst="rect">
            <a:avLst/>
          </a:prstGeom>
          <a:noFill/>
          <a:ln/>
        </p:spPr>
        <p:txBody>
          <a:bodyPr wrap="square" rtlCol="0" anchor="ctr"/>
          <a:lstStyle/>
          <a:p>
            <a:pPr algn="ctr" indent="0" marL="0">
              <a:buNone/>
            </a:pPr>
            <a:r>
              <a:rPr lang="en-US" sz="950" b="1" dirty="0">
                <a:solidFill>
                  <a:srgbClr val="334155"/>
                </a:solidFill>
                <a:latin typeface="Calibri" pitchFamily="34" charset="0"/>
                <a:ea typeface="Calibri" pitchFamily="34" charset="-122"/>
                <a:cs typeface="Calibri" pitchFamily="34" charset="-120"/>
              </a:rPr>
              <a:t>④ 맞춤 행동 가이드</a:t>
            </a:r>
            <a:endParaRPr lang="en-US" sz="950" dirty="0"/>
          </a:p>
        </p:txBody>
      </p:sp>
      <p:sp>
        <p:nvSpPr>
          <p:cNvPr id="13" name="Shape 11"/>
          <p:cNvSpPr/>
          <p:nvPr/>
        </p:nvSpPr>
        <p:spPr>
          <a:xfrm>
            <a:off x="7315200" y="1097280"/>
            <a:ext cx="1627632" cy="640080"/>
          </a:xfrm>
          <a:prstGeom prst="roundRect">
            <a:avLst>
              <a:gd name="adj" fmla="val 11429"/>
            </a:avLst>
          </a:prstGeom>
          <a:solidFill>
            <a:srgbClr val="FFFFFF"/>
          </a:solidFill>
          <a:ln w="12700">
            <a:solidFill>
              <a:srgbClr val="D0D8E4"/>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7360920" y="1097280"/>
            <a:ext cx="1536192" cy="640080"/>
          </a:xfrm>
          <a:prstGeom prst="rect">
            <a:avLst/>
          </a:prstGeom>
          <a:noFill/>
          <a:ln/>
        </p:spPr>
        <p:txBody>
          <a:bodyPr wrap="square" rtlCol="0" anchor="ctr"/>
          <a:lstStyle/>
          <a:p>
            <a:pPr algn="ctr" indent="0" marL="0">
              <a:buNone/>
            </a:pPr>
            <a:r>
              <a:rPr lang="en-US" sz="950" b="1" dirty="0">
                <a:solidFill>
                  <a:srgbClr val="334155"/>
                </a:solidFill>
                <a:latin typeface="Calibri" pitchFamily="34" charset="0"/>
                <a:ea typeface="Calibri" pitchFamily="34" charset="-122"/>
                <a:cs typeface="Calibri" pitchFamily="34" charset="-120"/>
              </a:rPr>
              <a:t>⑤ Grad-CAM 시각화</a:t>
            </a:r>
            <a:endParaRPr lang="en-US" sz="950" dirty="0"/>
          </a:p>
        </p:txBody>
      </p:sp>
      <p:pic>
        <p:nvPicPr>
          <p:cNvPr id="15" name="Image 0" descr="C:/Users/금정산2-PC02/SAG_project/assets/samples/sample_A5.jpg">    </p:cNvPr>
          <p:cNvPicPr>
            <a:picLocks noChangeAspect="1"/>
          </p:cNvPicPr>
          <p:nvPr/>
        </p:nvPicPr>
        <p:blipFill>
          <a:blip r:embed="rId1"/>
          <a:stretch>
            <a:fillRect/>
          </a:stretch>
        </p:blipFill>
        <p:spPr>
          <a:xfrm>
            <a:off x="640080" y="2011680"/>
            <a:ext cx="2377440" cy="1335024"/>
          </a:xfrm>
          <a:prstGeom prst="rect">
            <a:avLst/>
          </a:prstGeom>
        </p:spPr>
      </p:pic>
      <p:sp>
        <p:nvSpPr>
          <p:cNvPr id="16" name="Text 13"/>
          <p:cNvSpPr/>
          <p:nvPr/>
        </p:nvSpPr>
        <p:spPr>
          <a:xfrm>
            <a:off x="640080" y="3383280"/>
            <a:ext cx="2377440" cy="274320"/>
          </a:xfrm>
          <a:prstGeom prst="rect">
            <a:avLst/>
          </a:prstGeom>
          <a:noFill/>
          <a:ln/>
        </p:spPr>
        <p:txBody>
          <a:bodyPr wrap="square"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A5 미란/궤양 · 97%</a:t>
            </a:r>
            <a:endParaRPr lang="en-US" sz="1100" dirty="0"/>
          </a:p>
        </p:txBody>
      </p:sp>
      <p:sp>
        <p:nvSpPr>
          <p:cNvPr id="17" name="Shape 14"/>
          <p:cNvSpPr/>
          <p:nvPr/>
        </p:nvSpPr>
        <p:spPr>
          <a:xfrm>
            <a:off x="1143000" y="3675888"/>
            <a:ext cx="1371600" cy="292608"/>
          </a:xfrm>
          <a:prstGeom prst="roundRect">
            <a:avLst>
              <a:gd name="adj" fmla="val 18750"/>
            </a:avLst>
          </a:prstGeom>
          <a:solidFill>
            <a:srgbClr val="DC2626"/>
          </a:solidFill>
          <a:ln w="12700">
            <a:solidFill>
              <a:srgbClr val="DC2626"/>
            </a:solidFill>
            <a:prstDash val="solid"/>
          </a:ln>
        </p:spPr>
      </p:sp>
      <p:sp>
        <p:nvSpPr>
          <p:cNvPr id="18" name="Text 15"/>
          <p:cNvSpPr/>
          <p:nvPr/>
        </p:nvSpPr>
        <p:spPr>
          <a:xfrm>
            <a:off x="1143000" y="3675888"/>
            <a:ext cx="137160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빠른 진료 권장</a:t>
            </a:r>
            <a:endParaRPr lang="en-US" sz="900" dirty="0"/>
          </a:p>
        </p:txBody>
      </p:sp>
      <p:pic>
        <p:nvPicPr>
          <p:cNvPr id="19" name="Image 1" descr="C:/Users/금정산2-PC02/SAG_project/assets/samples/sample_A3.jpg">    </p:cNvPr>
          <p:cNvPicPr>
            <a:picLocks noChangeAspect="1"/>
          </p:cNvPicPr>
          <p:nvPr/>
        </p:nvPicPr>
        <p:blipFill>
          <a:blip r:embed="rId2"/>
          <a:stretch>
            <a:fillRect/>
          </a:stretch>
        </p:blipFill>
        <p:spPr>
          <a:xfrm>
            <a:off x="3383280" y="2011680"/>
            <a:ext cx="2377440" cy="1335024"/>
          </a:xfrm>
          <a:prstGeom prst="rect">
            <a:avLst/>
          </a:prstGeom>
        </p:spPr>
      </p:pic>
      <p:sp>
        <p:nvSpPr>
          <p:cNvPr id="20" name="Text 16"/>
          <p:cNvSpPr/>
          <p:nvPr/>
        </p:nvSpPr>
        <p:spPr>
          <a:xfrm>
            <a:off x="3383280" y="3383280"/>
            <a:ext cx="2377440" cy="274320"/>
          </a:xfrm>
          <a:prstGeom prst="rect">
            <a:avLst/>
          </a:prstGeom>
          <a:noFill/>
          <a:ln/>
        </p:spPr>
        <p:txBody>
          <a:bodyPr wrap="square"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A3 태선화/색소 · 88%</a:t>
            </a:r>
            <a:endParaRPr lang="en-US" sz="1100" dirty="0"/>
          </a:p>
        </p:txBody>
      </p:sp>
      <p:sp>
        <p:nvSpPr>
          <p:cNvPr id="21" name="Shape 17"/>
          <p:cNvSpPr/>
          <p:nvPr/>
        </p:nvSpPr>
        <p:spPr>
          <a:xfrm>
            <a:off x="3886200" y="3675888"/>
            <a:ext cx="1371600" cy="292608"/>
          </a:xfrm>
          <a:prstGeom prst="roundRect">
            <a:avLst>
              <a:gd name="adj" fmla="val 18750"/>
            </a:avLst>
          </a:prstGeom>
          <a:solidFill>
            <a:srgbClr val="D97706"/>
          </a:solidFill>
          <a:ln w="12700">
            <a:solidFill>
              <a:srgbClr val="D97706"/>
            </a:solidFill>
            <a:prstDash val="solid"/>
          </a:ln>
        </p:spPr>
      </p:sp>
      <p:sp>
        <p:nvSpPr>
          <p:cNvPr id="22" name="Text 18"/>
          <p:cNvSpPr/>
          <p:nvPr/>
        </p:nvSpPr>
        <p:spPr>
          <a:xfrm>
            <a:off x="3886200" y="3675888"/>
            <a:ext cx="137160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진료 권장</a:t>
            </a:r>
            <a:endParaRPr lang="en-US" sz="900" dirty="0"/>
          </a:p>
        </p:txBody>
      </p:sp>
      <p:pic>
        <p:nvPicPr>
          <p:cNvPr id="23" name="Image 2" descr="C:/Users/금정산2-PC02/SAG_project/assets/samples/sample_A7.jpg">    </p:cNvPr>
          <p:cNvPicPr>
            <a:picLocks noChangeAspect="1"/>
          </p:cNvPicPr>
          <p:nvPr/>
        </p:nvPicPr>
        <p:blipFill>
          <a:blip r:embed="rId3"/>
          <a:stretch>
            <a:fillRect/>
          </a:stretch>
        </p:blipFill>
        <p:spPr>
          <a:xfrm>
            <a:off x="6126480" y="2011680"/>
            <a:ext cx="2377440" cy="1335024"/>
          </a:xfrm>
          <a:prstGeom prst="rect">
            <a:avLst/>
          </a:prstGeom>
        </p:spPr>
      </p:pic>
      <p:sp>
        <p:nvSpPr>
          <p:cNvPr id="24" name="Text 19"/>
          <p:cNvSpPr/>
          <p:nvPr/>
        </p:nvSpPr>
        <p:spPr>
          <a:xfrm>
            <a:off x="6126480" y="3383280"/>
            <a:ext cx="2377440" cy="274320"/>
          </a:xfrm>
          <a:prstGeom prst="rect">
            <a:avLst/>
          </a:prstGeom>
          <a:noFill/>
          <a:ln/>
        </p:spPr>
        <p:txBody>
          <a:bodyPr wrap="square"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A7 정상 · 72%</a:t>
            </a:r>
            <a:endParaRPr lang="en-US" sz="1100" dirty="0"/>
          </a:p>
        </p:txBody>
      </p:sp>
      <p:sp>
        <p:nvSpPr>
          <p:cNvPr id="25" name="Shape 20"/>
          <p:cNvSpPr/>
          <p:nvPr/>
        </p:nvSpPr>
        <p:spPr>
          <a:xfrm>
            <a:off x="6629400" y="3675888"/>
            <a:ext cx="1371600" cy="292608"/>
          </a:xfrm>
          <a:prstGeom prst="roundRect">
            <a:avLst>
              <a:gd name="adj" fmla="val 18750"/>
            </a:avLst>
          </a:prstGeom>
          <a:solidFill>
            <a:srgbClr val="16A34A"/>
          </a:solidFill>
          <a:ln w="12700">
            <a:solidFill>
              <a:srgbClr val="16A34A"/>
            </a:solidFill>
            <a:prstDash val="solid"/>
          </a:ln>
        </p:spPr>
      </p:sp>
      <p:sp>
        <p:nvSpPr>
          <p:cNvPr id="26" name="Text 21"/>
          <p:cNvSpPr/>
          <p:nvPr/>
        </p:nvSpPr>
        <p:spPr>
          <a:xfrm>
            <a:off x="6629400" y="3675888"/>
            <a:ext cx="137160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정상 가능성 높음</a:t>
            </a:r>
            <a:endParaRPr lang="en-US" sz="900" dirty="0"/>
          </a:p>
        </p:txBody>
      </p:sp>
      <p:sp>
        <p:nvSpPr>
          <p:cNvPr id="27" name="Text 22"/>
          <p:cNvSpPr/>
          <p:nvPr/>
        </p:nvSpPr>
        <p:spPr>
          <a:xfrm>
            <a:off x="365760" y="4160520"/>
            <a:ext cx="8503920" cy="256032"/>
          </a:xfrm>
          <a:prstGeom prst="rect">
            <a:avLst/>
          </a:prstGeom>
          <a:noFill/>
          <a:ln/>
        </p:spPr>
        <p:txBody>
          <a:bodyPr wrap="square" rtlCol="0" anchor="ctr"/>
          <a:lstStyle/>
          <a:p>
            <a:pPr algn="ctr" indent="0" marL="0">
              <a:buNone/>
            </a:pPr>
            <a:r>
              <a:rPr lang="en-US" sz="1050" dirty="0">
                <a:solidFill>
                  <a:srgbClr val="334155"/>
                </a:solidFill>
                <a:latin typeface="Calibri" pitchFamily="34" charset="0"/>
                <a:ea typeface="Calibri" pitchFamily="34" charset="-122"/>
                <a:cs typeface="Calibri" pitchFamily="34" charset="-120"/>
              </a:rPr>
              <a:t>업로드 없이 샘플 이미지로 바로 체험 가능 · Home/About/Detection/Model Performance/Data Analysis 5개 페이지</a:t>
            </a:r>
            <a:endParaRPr lang="en-US" sz="1050" dirty="0"/>
          </a:p>
        </p:txBody>
      </p:sp>
      <p:sp>
        <p:nvSpPr>
          <p:cNvPr id="28" name="Shape 23"/>
          <p:cNvSpPr/>
          <p:nvPr/>
        </p:nvSpPr>
        <p:spPr>
          <a:xfrm>
            <a:off x="274320" y="4434840"/>
            <a:ext cx="8595360" cy="548640"/>
          </a:xfrm>
          <a:prstGeom prst="roundRect">
            <a:avLst>
              <a:gd name="adj" fmla="val 13333"/>
            </a:avLst>
          </a:prstGeom>
          <a:solidFill>
            <a:srgbClr val="0D1B2A"/>
          </a:solidFill>
          <a:ln w="12700">
            <a:solidFill>
              <a:srgbClr val="0D1B2A"/>
            </a:solidFill>
            <a:prstDash val="solid"/>
          </a:ln>
        </p:spPr>
      </p:sp>
      <p:sp>
        <p:nvSpPr>
          <p:cNvPr id="29" name="Text 24"/>
          <p:cNvSpPr/>
          <p:nvPr/>
        </p:nvSpPr>
        <p:spPr>
          <a:xfrm>
            <a:off x="411480" y="4434840"/>
            <a:ext cx="8321040" cy="548640"/>
          </a:xfrm>
          <a:prstGeom prst="rect">
            <a:avLst/>
          </a:prstGeom>
          <a:noFill/>
          <a:ln/>
        </p:spPr>
        <p:txBody>
          <a:bodyPr wrap="square" rtlCol="0" anchor="ctr"/>
          <a:lstStyle/>
          <a:p>
            <a:pPr algn="l" indent="0" marL="0">
              <a:buNone/>
            </a:pPr>
            <a:r>
              <a:rPr lang="en-US" sz="1200" b="1" dirty="0">
                <a:solidFill>
                  <a:srgbClr val="F5A623"/>
                </a:solidFill>
                <a:latin typeface="Calibri" pitchFamily="34" charset="0"/>
                <a:ea typeface="Calibri" pitchFamily="34" charset="-122"/>
                <a:cs typeface="Calibri" pitchFamily="34" charset="-120"/>
              </a:rPr>
              <a:t>결론  사진을 넣으면 실제 EfficientNetB3 추론으로 위험도·행동 가이드·Grad-CAM을 제공합니다.</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949440" y="-457200"/>
            <a:ext cx="3108960" cy="3108960"/>
          </a:xfrm>
          <a:prstGeom prst="ellipse">
            <a:avLst/>
          </a:prstGeom>
          <a:solidFill>
            <a:srgbClr val="1A2D42"/>
          </a:solidFill>
          <a:ln w="12700">
            <a:solidFill>
              <a:srgbClr val="1A2D42"/>
            </a:solidFill>
            <a:prstDash val="solid"/>
          </a:ln>
        </p:spPr>
      </p:sp>
      <p:sp>
        <p:nvSpPr>
          <p:cNvPr id="3" name="Text 1"/>
          <p:cNvSpPr/>
          <p:nvPr/>
        </p:nvSpPr>
        <p:spPr>
          <a:xfrm>
            <a:off x="457200" y="228600"/>
            <a:ext cx="8229600" cy="640080"/>
          </a:xfrm>
          <a:prstGeom prst="rect">
            <a:avLst/>
          </a:prstGeom>
          <a:noFill/>
          <a:ln/>
        </p:spPr>
        <p:txBody>
          <a:bodyPr wrap="square"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무엇이 부족하고, 다음은 무엇인가</a:t>
            </a:r>
            <a:endParaRPr lang="en-US" sz="2700" dirty="0"/>
          </a:p>
        </p:txBody>
      </p:sp>
      <p:sp>
        <p:nvSpPr>
          <p:cNvPr id="4" name="Shape 2"/>
          <p:cNvSpPr/>
          <p:nvPr/>
        </p:nvSpPr>
        <p:spPr>
          <a:xfrm>
            <a:off x="457200" y="868680"/>
            <a:ext cx="2011680" cy="36576"/>
          </a:xfrm>
          <a:prstGeom prst="rect">
            <a:avLst/>
          </a:prstGeom>
          <a:solidFill>
            <a:srgbClr val="F5A623"/>
          </a:solidFill>
          <a:ln w="12700">
            <a:solidFill>
              <a:srgbClr val="F5A623"/>
            </a:solidFill>
            <a:prstDash val="solid"/>
          </a:ln>
        </p:spPr>
      </p:sp>
      <p:sp>
        <p:nvSpPr>
          <p:cNvPr id="5" name="Shape 3"/>
          <p:cNvSpPr/>
          <p:nvPr/>
        </p:nvSpPr>
        <p:spPr>
          <a:xfrm>
            <a:off x="365760" y="1097280"/>
            <a:ext cx="2606040" cy="2743200"/>
          </a:xfrm>
          <a:prstGeom prst="roundRect">
            <a:avLst>
              <a:gd name="adj" fmla="val 4211"/>
            </a:avLst>
          </a:prstGeom>
          <a:solidFill>
            <a:srgbClr val="1A2D42"/>
          </a:solidFill>
          <a:ln w="12700">
            <a:solidFill>
              <a:srgbClr val="2A4060"/>
            </a:solidFill>
            <a:prstDash val="solid"/>
          </a:ln>
        </p:spPr>
      </p:sp>
      <p:sp>
        <p:nvSpPr>
          <p:cNvPr id="6" name="Shape 4"/>
          <p:cNvSpPr/>
          <p:nvPr/>
        </p:nvSpPr>
        <p:spPr>
          <a:xfrm>
            <a:off x="365760" y="1097280"/>
            <a:ext cx="2606040" cy="457200"/>
          </a:xfrm>
          <a:prstGeom prst="roundRect">
            <a:avLst>
              <a:gd name="adj" fmla="val 24000"/>
            </a:avLst>
          </a:prstGeom>
          <a:solidFill>
            <a:srgbClr val="D97706"/>
          </a:solidFill>
          <a:ln w="12700">
            <a:solidFill>
              <a:srgbClr val="D97706"/>
            </a:solidFill>
            <a:prstDash val="solid"/>
          </a:ln>
        </p:spPr>
      </p:sp>
      <p:sp>
        <p:nvSpPr>
          <p:cNvPr id="7" name="Shape 5"/>
          <p:cNvSpPr/>
          <p:nvPr/>
        </p:nvSpPr>
        <p:spPr>
          <a:xfrm>
            <a:off x="365760" y="1325880"/>
            <a:ext cx="2606040" cy="228600"/>
          </a:xfrm>
          <a:prstGeom prst="rect">
            <a:avLst/>
          </a:prstGeom>
          <a:solidFill>
            <a:srgbClr val="D97706"/>
          </a:solidFill>
          <a:ln w="12700">
            <a:solidFill>
              <a:srgbClr val="D97706"/>
            </a:solidFill>
            <a:prstDash val="solid"/>
          </a:ln>
        </p:spPr>
      </p:sp>
      <p:sp>
        <p:nvSpPr>
          <p:cNvPr id="8" name="Text 6"/>
          <p:cNvSpPr/>
          <p:nvPr/>
        </p:nvSpPr>
        <p:spPr>
          <a:xfrm>
            <a:off x="457200" y="1115568"/>
            <a:ext cx="2423160" cy="42062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현재 한계</a:t>
            </a:r>
            <a:endParaRPr lang="en-US" sz="1300" dirty="0"/>
          </a:p>
        </p:txBody>
      </p:sp>
      <p:sp>
        <p:nvSpPr>
          <p:cNvPr id="9" name="Text 7"/>
          <p:cNvSpPr/>
          <p:nvPr/>
        </p:nvSpPr>
        <p:spPr>
          <a:xfrm>
            <a:off x="502920" y="1691640"/>
            <a:ext cx="2377440" cy="475488"/>
          </a:xfrm>
          <a:prstGeom prst="rect">
            <a:avLst/>
          </a:prstGeom>
          <a:noFill/>
          <a:ln/>
        </p:spPr>
        <p:txBody>
          <a:bodyPr wrap="square" rtlCol="0" anchor="ctr"/>
          <a:lstStyle/>
          <a:p>
            <a:pPr indent="0" marL="0">
              <a:lnSpc>
                <a:spcPct val="105000"/>
              </a:lnSpc>
              <a:buNone/>
            </a:pPr>
            <a:r>
              <a:rPr lang="en-US" sz="1050" dirty="0">
                <a:solidFill>
                  <a:srgbClr val="CADCFC"/>
                </a:solidFill>
                <a:latin typeface="Calibri" pitchFamily="34" charset="0"/>
                <a:ea typeface="Calibri" pitchFamily="34" charset="-122"/>
                <a:cs typeface="Calibri" pitchFamily="34" charset="-120"/>
              </a:rPr>
              <a:t>• 정확도 57.6% — 임상 진단엔 부족</a:t>
            </a:r>
            <a:endParaRPr lang="en-US" sz="1050" dirty="0"/>
          </a:p>
        </p:txBody>
      </p:sp>
      <p:sp>
        <p:nvSpPr>
          <p:cNvPr id="10" name="Text 8"/>
          <p:cNvSpPr/>
          <p:nvPr/>
        </p:nvSpPr>
        <p:spPr>
          <a:xfrm>
            <a:off x="502920" y="2203704"/>
            <a:ext cx="2377440" cy="475488"/>
          </a:xfrm>
          <a:prstGeom prst="rect">
            <a:avLst/>
          </a:prstGeom>
          <a:noFill/>
          <a:ln/>
        </p:spPr>
        <p:txBody>
          <a:bodyPr wrap="square" rtlCol="0" anchor="ctr"/>
          <a:lstStyle/>
          <a:p>
            <a:pPr indent="0" marL="0">
              <a:lnSpc>
                <a:spcPct val="105000"/>
              </a:lnSpc>
              <a:buNone/>
            </a:pPr>
            <a:r>
              <a:rPr lang="en-US" sz="1050" dirty="0">
                <a:solidFill>
                  <a:srgbClr val="CADCFC"/>
                </a:solidFill>
                <a:latin typeface="Calibri" pitchFamily="34" charset="0"/>
                <a:ea typeface="Calibri" pitchFamily="34" charset="-122"/>
                <a:cs typeface="Calibri" pitchFamily="34" charset="-120"/>
              </a:rPr>
              <a:t>• A2↔A3 등 시각적 유사 병변 혼동</a:t>
            </a:r>
            <a:endParaRPr lang="en-US" sz="1050" dirty="0"/>
          </a:p>
        </p:txBody>
      </p:sp>
      <p:sp>
        <p:nvSpPr>
          <p:cNvPr id="11" name="Text 9"/>
          <p:cNvSpPr/>
          <p:nvPr/>
        </p:nvSpPr>
        <p:spPr>
          <a:xfrm>
            <a:off x="502920" y="2715768"/>
            <a:ext cx="2377440" cy="475488"/>
          </a:xfrm>
          <a:prstGeom prst="rect">
            <a:avLst/>
          </a:prstGeom>
          <a:noFill/>
          <a:ln/>
        </p:spPr>
        <p:txBody>
          <a:bodyPr wrap="square" rtlCol="0" anchor="ctr"/>
          <a:lstStyle/>
          <a:p>
            <a:pPr indent="0" marL="0">
              <a:lnSpc>
                <a:spcPct val="105000"/>
              </a:lnSpc>
              <a:buNone/>
            </a:pPr>
            <a:r>
              <a:rPr lang="en-US" sz="1050" dirty="0">
                <a:solidFill>
                  <a:srgbClr val="CADCFC"/>
                </a:solidFill>
                <a:latin typeface="Calibri" pitchFamily="34" charset="0"/>
                <a:ea typeface="Calibri" pitchFamily="34" charset="-122"/>
                <a:cs typeface="Calibri" pitchFamily="34" charset="-120"/>
              </a:rPr>
              <a:t>• 고양이 데이터 부족 (11.4%)</a:t>
            </a:r>
            <a:endParaRPr lang="en-US" sz="1050" dirty="0"/>
          </a:p>
        </p:txBody>
      </p:sp>
      <p:sp>
        <p:nvSpPr>
          <p:cNvPr id="12" name="Text 10"/>
          <p:cNvSpPr/>
          <p:nvPr/>
        </p:nvSpPr>
        <p:spPr>
          <a:xfrm>
            <a:off x="502920" y="3227832"/>
            <a:ext cx="2377440" cy="475488"/>
          </a:xfrm>
          <a:prstGeom prst="rect">
            <a:avLst/>
          </a:prstGeom>
          <a:noFill/>
          <a:ln/>
        </p:spPr>
        <p:txBody>
          <a:bodyPr wrap="square" rtlCol="0" anchor="ctr"/>
          <a:lstStyle/>
          <a:p>
            <a:pPr indent="0" marL="0">
              <a:lnSpc>
                <a:spcPct val="105000"/>
              </a:lnSpc>
              <a:buNone/>
            </a:pPr>
            <a:r>
              <a:rPr lang="en-US" sz="1050" dirty="0">
                <a:solidFill>
                  <a:srgbClr val="CADCFC"/>
                </a:solidFill>
                <a:latin typeface="Calibri" pitchFamily="34" charset="0"/>
                <a:ea typeface="Calibri" pitchFamily="34" charset="-122"/>
                <a:cs typeface="Calibri" pitchFamily="34" charset="-120"/>
              </a:rPr>
              <a:t>• 이미지 단일 입력 (증상·부위 미반영)</a:t>
            </a:r>
            <a:endParaRPr lang="en-US" sz="1050" dirty="0"/>
          </a:p>
        </p:txBody>
      </p:sp>
      <p:sp>
        <p:nvSpPr>
          <p:cNvPr id="13" name="Shape 11"/>
          <p:cNvSpPr/>
          <p:nvPr/>
        </p:nvSpPr>
        <p:spPr>
          <a:xfrm>
            <a:off x="3246120" y="1097280"/>
            <a:ext cx="2606040" cy="2743200"/>
          </a:xfrm>
          <a:prstGeom prst="roundRect">
            <a:avLst>
              <a:gd name="adj" fmla="val 4211"/>
            </a:avLst>
          </a:prstGeom>
          <a:solidFill>
            <a:srgbClr val="1A2D42"/>
          </a:solidFill>
          <a:ln w="12700">
            <a:solidFill>
              <a:srgbClr val="2A4060"/>
            </a:solidFill>
            <a:prstDash val="solid"/>
          </a:ln>
        </p:spPr>
      </p:sp>
      <p:sp>
        <p:nvSpPr>
          <p:cNvPr id="14" name="Shape 12"/>
          <p:cNvSpPr/>
          <p:nvPr/>
        </p:nvSpPr>
        <p:spPr>
          <a:xfrm>
            <a:off x="3246120" y="1097280"/>
            <a:ext cx="2606040" cy="457200"/>
          </a:xfrm>
          <a:prstGeom prst="roundRect">
            <a:avLst>
              <a:gd name="adj" fmla="val 24000"/>
            </a:avLst>
          </a:prstGeom>
          <a:solidFill>
            <a:srgbClr val="00A896"/>
          </a:solidFill>
          <a:ln w="12700">
            <a:solidFill>
              <a:srgbClr val="00A896"/>
            </a:solidFill>
            <a:prstDash val="solid"/>
          </a:ln>
        </p:spPr>
      </p:sp>
      <p:sp>
        <p:nvSpPr>
          <p:cNvPr id="15" name="Shape 13"/>
          <p:cNvSpPr/>
          <p:nvPr/>
        </p:nvSpPr>
        <p:spPr>
          <a:xfrm>
            <a:off x="3246120" y="1325880"/>
            <a:ext cx="2606040" cy="228600"/>
          </a:xfrm>
          <a:prstGeom prst="rect">
            <a:avLst/>
          </a:prstGeom>
          <a:solidFill>
            <a:srgbClr val="00A896"/>
          </a:solidFill>
          <a:ln w="12700">
            <a:solidFill>
              <a:srgbClr val="00A896"/>
            </a:solidFill>
            <a:prstDash val="solid"/>
          </a:ln>
        </p:spPr>
      </p:sp>
      <p:sp>
        <p:nvSpPr>
          <p:cNvPr id="16" name="Text 14"/>
          <p:cNvSpPr/>
          <p:nvPr/>
        </p:nvSpPr>
        <p:spPr>
          <a:xfrm>
            <a:off x="3337560" y="1115568"/>
            <a:ext cx="2423160" cy="42062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원인</a:t>
            </a:r>
            <a:endParaRPr lang="en-US" sz="1300" dirty="0"/>
          </a:p>
        </p:txBody>
      </p:sp>
      <p:sp>
        <p:nvSpPr>
          <p:cNvPr id="17" name="Text 15"/>
          <p:cNvSpPr/>
          <p:nvPr/>
        </p:nvSpPr>
        <p:spPr>
          <a:xfrm>
            <a:off x="3383280" y="1691640"/>
            <a:ext cx="2377440" cy="475488"/>
          </a:xfrm>
          <a:prstGeom prst="rect">
            <a:avLst/>
          </a:prstGeom>
          <a:noFill/>
          <a:ln/>
        </p:spPr>
        <p:txBody>
          <a:bodyPr wrap="square" rtlCol="0" anchor="ctr"/>
          <a:lstStyle/>
          <a:p>
            <a:pPr indent="0" marL="0">
              <a:lnSpc>
                <a:spcPct val="105000"/>
              </a:lnSpc>
              <a:buNone/>
            </a:pPr>
            <a:r>
              <a:rPr lang="en-US" sz="1050" dirty="0">
                <a:solidFill>
                  <a:srgbClr val="CADCFC"/>
                </a:solidFill>
                <a:latin typeface="Calibri" pitchFamily="34" charset="0"/>
                <a:ea typeface="Calibri" pitchFamily="34" charset="-122"/>
                <a:cs typeface="Calibri" pitchFamily="34" charset="-120"/>
              </a:rPr>
              <a:t>• 학습량·데이터 규모의 한계</a:t>
            </a:r>
            <a:endParaRPr lang="en-US" sz="1050" dirty="0"/>
          </a:p>
        </p:txBody>
      </p:sp>
      <p:sp>
        <p:nvSpPr>
          <p:cNvPr id="18" name="Text 16"/>
          <p:cNvSpPr/>
          <p:nvPr/>
        </p:nvSpPr>
        <p:spPr>
          <a:xfrm>
            <a:off x="3383280" y="2203704"/>
            <a:ext cx="2377440" cy="475488"/>
          </a:xfrm>
          <a:prstGeom prst="rect">
            <a:avLst/>
          </a:prstGeom>
          <a:noFill/>
          <a:ln/>
        </p:spPr>
        <p:txBody>
          <a:bodyPr wrap="square" rtlCol="0" anchor="ctr"/>
          <a:lstStyle/>
          <a:p>
            <a:pPr indent="0" marL="0">
              <a:lnSpc>
                <a:spcPct val="105000"/>
              </a:lnSpc>
              <a:buNone/>
            </a:pPr>
            <a:r>
              <a:rPr lang="en-US" sz="1050" dirty="0">
                <a:solidFill>
                  <a:srgbClr val="CADCFC"/>
                </a:solidFill>
                <a:latin typeface="Calibri" pitchFamily="34" charset="0"/>
                <a:ea typeface="Calibri" pitchFamily="34" charset="-122"/>
                <a:cs typeface="Calibri" pitchFamily="34" charset="-120"/>
              </a:rPr>
              <a:t>• 두 병변의 외형 차이가 미세함</a:t>
            </a:r>
            <a:endParaRPr lang="en-US" sz="1050" dirty="0"/>
          </a:p>
        </p:txBody>
      </p:sp>
      <p:sp>
        <p:nvSpPr>
          <p:cNvPr id="19" name="Text 17"/>
          <p:cNvSpPr/>
          <p:nvPr/>
        </p:nvSpPr>
        <p:spPr>
          <a:xfrm>
            <a:off x="3383280" y="2715768"/>
            <a:ext cx="2377440" cy="475488"/>
          </a:xfrm>
          <a:prstGeom prst="rect">
            <a:avLst/>
          </a:prstGeom>
          <a:noFill/>
          <a:ln/>
        </p:spPr>
        <p:txBody>
          <a:bodyPr wrap="square" rtlCol="0" anchor="ctr"/>
          <a:lstStyle/>
          <a:p>
            <a:pPr indent="0" marL="0">
              <a:lnSpc>
                <a:spcPct val="105000"/>
              </a:lnSpc>
              <a:buNone/>
            </a:pPr>
            <a:r>
              <a:rPr lang="en-US" sz="1050" dirty="0">
                <a:solidFill>
                  <a:srgbClr val="CADCFC"/>
                </a:solidFill>
                <a:latin typeface="Calibri" pitchFamily="34" charset="0"/>
                <a:ea typeface="Calibri" pitchFamily="34" charset="-122"/>
                <a:cs typeface="Calibri" pitchFamily="34" charset="-120"/>
              </a:rPr>
              <a:t>• 고양이 원본 수집 자체가 적음</a:t>
            </a:r>
            <a:endParaRPr lang="en-US" sz="1050" dirty="0"/>
          </a:p>
        </p:txBody>
      </p:sp>
      <p:sp>
        <p:nvSpPr>
          <p:cNvPr id="20" name="Text 18"/>
          <p:cNvSpPr/>
          <p:nvPr/>
        </p:nvSpPr>
        <p:spPr>
          <a:xfrm>
            <a:off x="3383280" y="3227832"/>
            <a:ext cx="2377440" cy="475488"/>
          </a:xfrm>
          <a:prstGeom prst="rect">
            <a:avLst/>
          </a:prstGeom>
          <a:noFill/>
          <a:ln/>
        </p:spPr>
        <p:txBody>
          <a:bodyPr wrap="square" rtlCol="0" anchor="ctr"/>
          <a:lstStyle/>
          <a:p>
            <a:pPr indent="0" marL="0">
              <a:lnSpc>
                <a:spcPct val="105000"/>
              </a:lnSpc>
              <a:buNone/>
            </a:pPr>
            <a:r>
              <a:rPr lang="en-US" sz="1050" dirty="0">
                <a:solidFill>
                  <a:srgbClr val="CADCFC"/>
                </a:solidFill>
                <a:latin typeface="Calibri" pitchFamily="34" charset="0"/>
                <a:ea typeface="Calibri" pitchFamily="34" charset="-122"/>
                <a:cs typeface="Calibri" pitchFamily="34" charset="-120"/>
              </a:rPr>
              <a:t>• 메타정보가 모델 입력에 미반영</a:t>
            </a:r>
            <a:endParaRPr lang="en-US" sz="1050" dirty="0"/>
          </a:p>
        </p:txBody>
      </p:sp>
      <p:sp>
        <p:nvSpPr>
          <p:cNvPr id="21" name="Shape 19"/>
          <p:cNvSpPr/>
          <p:nvPr/>
        </p:nvSpPr>
        <p:spPr>
          <a:xfrm>
            <a:off x="6126480" y="1097280"/>
            <a:ext cx="2606040" cy="2743200"/>
          </a:xfrm>
          <a:prstGeom prst="roundRect">
            <a:avLst>
              <a:gd name="adj" fmla="val 4211"/>
            </a:avLst>
          </a:prstGeom>
          <a:solidFill>
            <a:srgbClr val="1A2D42"/>
          </a:solidFill>
          <a:ln w="12700">
            <a:solidFill>
              <a:srgbClr val="2A4060"/>
            </a:solidFill>
            <a:prstDash val="solid"/>
          </a:ln>
        </p:spPr>
      </p:sp>
      <p:sp>
        <p:nvSpPr>
          <p:cNvPr id="22" name="Shape 20"/>
          <p:cNvSpPr/>
          <p:nvPr/>
        </p:nvSpPr>
        <p:spPr>
          <a:xfrm>
            <a:off x="6126480" y="1097280"/>
            <a:ext cx="2606040" cy="457200"/>
          </a:xfrm>
          <a:prstGeom prst="roundRect">
            <a:avLst>
              <a:gd name="adj" fmla="val 24000"/>
            </a:avLst>
          </a:prstGeom>
          <a:solidFill>
            <a:srgbClr val="16A34A"/>
          </a:solidFill>
          <a:ln w="12700">
            <a:solidFill>
              <a:srgbClr val="16A34A"/>
            </a:solidFill>
            <a:prstDash val="solid"/>
          </a:ln>
        </p:spPr>
      </p:sp>
      <p:sp>
        <p:nvSpPr>
          <p:cNvPr id="23" name="Shape 21"/>
          <p:cNvSpPr/>
          <p:nvPr/>
        </p:nvSpPr>
        <p:spPr>
          <a:xfrm>
            <a:off x="6126480" y="1325880"/>
            <a:ext cx="2606040" cy="228600"/>
          </a:xfrm>
          <a:prstGeom prst="rect">
            <a:avLst/>
          </a:prstGeom>
          <a:solidFill>
            <a:srgbClr val="16A34A"/>
          </a:solidFill>
          <a:ln w="12700">
            <a:solidFill>
              <a:srgbClr val="16A34A"/>
            </a:solidFill>
            <a:prstDash val="solid"/>
          </a:ln>
        </p:spPr>
      </p:sp>
      <p:sp>
        <p:nvSpPr>
          <p:cNvPr id="24" name="Text 22"/>
          <p:cNvSpPr/>
          <p:nvPr/>
        </p:nvSpPr>
        <p:spPr>
          <a:xfrm>
            <a:off x="6217920" y="1115568"/>
            <a:ext cx="2423160" cy="42062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개선 방향</a:t>
            </a:r>
            <a:endParaRPr lang="en-US" sz="1300" dirty="0"/>
          </a:p>
        </p:txBody>
      </p:sp>
      <p:sp>
        <p:nvSpPr>
          <p:cNvPr id="25" name="Text 23"/>
          <p:cNvSpPr/>
          <p:nvPr/>
        </p:nvSpPr>
        <p:spPr>
          <a:xfrm>
            <a:off x="6263640" y="1691640"/>
            <a:ext cx="2377440" cy="475488"/>
          </a:xfrm>
          <a:prstGeom prst="rect">
            <a:avLst/>
          </a:prstGeom>
          <a:noFill/>
          <a:ln/>
        </p:spPr>
        <p:txBody>
          <a:bodyPr wrap="square" rtlCol="0" anchor="ctr"/>
          <a:lstStyle/>
          <a:p>
            <a:pPr indent="0" marL="0">
              <a:lnSpc>
                <a:spcPct val="105000"/>
              </a:lnSpc>
              <a:buNone/>
            </a:pPr>
            <a:r>
              <a:rPr lang="en-US" sz="1050" dirty="0">
                <a:solidFill>
                  <a:srgbClr val="CADCFC"/>
                </a:solidFill>
                <a:latin typeface="Calibri" pitchFamily="34" charset="0"/>
                <a:ea typeface="Calibri" pitchFamily="34" charset="-122"/>
                <a:cs typeface="Calibri" pitchFamily="34" charset="-120"/>
              </a:rPr>
              <a:t>• 추가 학습·증강으로 성능 향상</a:t>
            </a:r>
            <a:endParaRPr lang="en-US" sz="1050" dirty="0"/>
          </a:p>
        </p:txBody>
      </p:sp>
      <p:sp>
        <p:nvSpPr>
          <p:cNvPr id="26" name="Text 24"/>
          <p:cNvSpPr/>
          <p:nvPr/>
        </p:nvSpPr>
        <p:spPr>
          <a:xfrm>
            <a:off x="6263640" y="2203704"/>
            <a:ext cx="2377440" cy="475488"/>
          </a:xfrm>
          <a:prstGeom prst="rect">
            <a:avLst/>
          </a:prstGeom>
          <a:noFill/>
          <a:ln/>
        </p:spPr>
        <p:txBody>
          <a:bodyPr wrap="square" rtlCol="0" anchor="ctr"/>
          <a:lstStyle/>
          <a:p>
            <a:pPr indent="0" marL="0">
              <a:lnSpc>
                <a:spcPct val="105000"/>
              </a:lnSpc>
              <a:buNone/>
            </a:pPr>
            <a:r>
              <a:rPr lang="en-US" sz="1050" dirty="0">
                <a:solidFill>
                  <a:srgbClr val="CADCFC"/>
                </a:solidFill>
                <a:latin typeface="Calibri" pitchFamily="34" charset="0"/>
                <a:ea typeface="Calibri" pitchFamily="34" charset="-122"/>
                <a:cs typeface="Calibri" pitchFamily="34" charset="-120"/>
              </a:rPr>
              <a:t>• A2·A3 특화 손실 / 부위 정보 활용</a:t>
            </a:r>
            <a:endParaRPr lang="en-US" sz="1050" dirty="0"/>
          </a:p>
        </p:txBody>
      </p:sp>
      <p:sp>
        <p:nvSpPr>
          <p:cNvPr id="27" name="Text 25"/>
          <p:cNvSpPr/>
          <p:nvPr/>
        </p:nvSpPr>
        <p:spPr>
          <a:xfrm>
            <a:off x="6263640" y="2715768"/>
            <a:ext cx="2377440" cy="475488"/>
          </a:xfrm>
          <a:prstGeom prst="rect">
            <a:avLst/>
          </a:prstGeom>
          <a:noFill/>
          <a:ln/>
        </p:spPr>
        <p:txBody>
          <a:bodyPr wrap="square" rtlCol="0" anchor="ctr"/>
          <a:lstStyle/>
          <a:p>
            <a:pPr indent="0" marL="0">
              <a:lnSpc>
                <a:spcPct val="105000"/>
              </a:lnSpc>
              <a:buNone/>
            </a:pPr>
            <a:r>
              <a:rPr lang="en-US" sz="1050" dirty="0">
                <a:solidFill>
                  <a:srgbClr val="CADCFC"/>
                </a:solidFill>
                <a:latin typeface="Calibri" pitchFamily="34" charset="0"/>
                <a:ea typeface="Calibri" pitchFamily="34" charset="-122"/>
                <a:cs typeface="Calibri" pitchFamily="34" charset="-120"/>
              </a:rPr>
              <a:t>• 고양이 데이터 보강</a:t>
            </a:r>
            <a:endParaRPr lang="en-US" sz="1050" dirty="0"/>
          </a:p>
        </p:txBody>
      </p:sp>
      <p:sp>
        <p:nvSpPr>
          <p:cNvPr id="28" name="Text 26"/>
          <p:cNvSpPr/>
          <p:nvPr/>
        </p:nvSpPr>
        <p:spPr>
          <a:xfrm>
            <a:off x="6263640" y="3227832"/>
            <a:ext cx="2377440" cy="475488"/>
          </a:xfrm>
          <a:prstGeom prst="rect">
            <a:avLst/>
          </a:prstGeom>
          <a:noFill/>
          <a:ln/>
        </p:spPr>
        <p:txBody>
          <a:bodyPr wrap="square" rtlCol="0" anchor="ctr"/>
          <a:lstStyle/>
          <a:p>
            <a:pPr indent="0" marL="0">
              <a:lnSpc>
                <a:spcPct val="105000"/>
              </a:lnSpc>
              <a:buNone/>
            </a:pPr>
            <a:r>
              <a:rPr lang="en-US" sz="1050" dirty="0">
                <a:solidFill>
                  <a:srgbClr val="CADCFC"/>
                </a:solidFill>
                <a:latin typeface="Calibri" pitchFamily="34" charset="0"/>
                <a:ea typeface="Calibri" pitchFamily="34" charset="-122"/>
                <a:cs typeface="Calibri" pitchFamily="34" charset="-120"/>
              </a:rPr>
              <a:t>• 이미지+증상 멀티모달 입력</a:t>
            </a:r>
            <a:endParaRPr lang="en-US" sz="1050" dirty="0"/>
          </a:p>
        </p:txBody>
      </p:sp>
      <p:sp>
        <p:nvSpPr>
          <p:cNvPr id="29" name="Shape 27"/>
          <p:cNvSpPr/>
          <p:nvPr/>
        </p:nvSpPr>
        <p:spPr>
          <a:xfrm>
            <a:off x="365760" y="4023360"/>
            <a:ext cx="8412480" cy="841248"/>
          </a:xfrm>
          <a:prstGeom prst="roundRect">
            <a:avLst>
              <a:gd name="adj" fmla="val 10870"/>
            </a:avLst>
          </a:prstGeom>
          <a:solidFill>
            <a:srgbClr val="F5A623"/>
          </a:solidFill>
          <a:ln w="12700">
            <a:solidFill>
              <a:srgbClr val="F5A623"/>
            </a:solidFill>
            <a:prstDash val="solid"/>
          </a:ln>
        </p:spPr>
      </p:sp>
      <p:sp>
        <p:nvSpPr>
          <p:cNvPr id="30" name="Text 28"/>
          <p:cNvSpPr/>
          <p:nvPr/>
        </p:nvSpPr>
        <p:spPr>
          <a:xfrm>
            <a:off x="365760" y="4023360"/>
            <a:ext cx="8412480" cy="841248"/>
          </a:xfrm>
          <a:prstGeom prst="rect">
            <a:avLst/>
          </a:prstGeom>
          <a:noFill/>
          <a:ln/>
        </p:spPr>
        <p:txBody>
          <a:bodyPr wrap="square" rtlCol="0" anchor="ctr"/>
          <a:lstStyle/>
          <a:p>
            <a:pPr algn="ctr" indent="0" marL="0">
              <a:lnSpc>
                <a:spcPct val="110000"/>
              </a:lnSpc>
              <a:buNone/>
            </a:pPr>
            <a:r>
              <a:rPr lang="en-US" sz="1250" b="1" dirty="0">
                <a:solidFill>
                  <a:srgbClr val="0D1B2A"/>
                </a:solidFill>
                <a:latin typeface="Calibri" pitchFamily="34" charset="0"/>
                <a:ea typeface="Calibri" pitchFamily="34" charset="-122"/>
                <a:cs typeface="Calibri" pitchFamily="34" charset="-120"/>
              </a:rPr>
              <a:t>다음 단계:  고양이·A2/A3 데이터 보강  →  멀티모달(이미지+증상)  →  추가 학습  →  임상 검증
</a:t>
            </a:r>
            <a:pPr algn="ctr" indent="0" marL="0">
              <a:lnSpc>
                <a:spcPct val="110000"/>
              </a:lnSpc>
              <a:buNone/>
            </a:pPr>
            <a:r>
              <a:rPr lang="en-US" sz="1050" dirty="0">
                <a:solidFill>
                  <a:srgbClr val="5A4300"/>
                </a:solidFill>
                <a:latin typeface="Calibri" pitchFamily="34" charset="0"/>
                <a:ea typeface="Calibri" pitchFamily="34" charset="-122"/>
                <a:cs typeface="Calibri" pitchFamily="34" charset="-120"/>
              </a:rPr>
              <a:t>AI 수의사는 질병을 확정하지 않습니다. 빠른 초기 판단을 도와 보호자의 다음 행동을 안내합니다.</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수의사 — 반려동물 피부질환 분류 AI 서비스</dc:title>
  <dc:subject>PptxGenJS Presentation</dc:subject>
  <dc:creator>SAG Team</dc:creator>
  <cp:lastModifiedBy>SAG Team</cp:lastModifiedBy>
  <cp:revision>1</cp:revision>
  <dcterms:created xsi:type="dcterms:W3CDTF">2026-06-16T02:37:58Z</dcterms:created>
  <dcterms:modified xsi:type="dcterms:W3CDTF">2026-06-16T02:37:58Z</dcterms:modified>
</cp:coreProperties>
</file>